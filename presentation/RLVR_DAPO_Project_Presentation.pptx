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1051559"/>
            <a:ext cx="7863842" cy="4434842"/>
          </a:xfrm>
          <a:prstGeom prst="rect">
            <a:avLst/>
          </a:prstGeom>
          <a:solidFill>
            <a:srgbClr val="FCFC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0" y="1051559"/>
            <a:ext cx="109728" cy="4434842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66164" y="1976863"/>
            <a:ext cx="7531511" cy="237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cap="all" sz="4000">
                <a:latin typeface="Marker Felt"/>
                <a:ea typeface="Marker Felt"/>
                <a:cs typeface="Marker Felt"/>
                <a:sym typeface="Marker Felt"/>
              </a:defRPr>
            </a:pPr>
            <a:r>
              <a:t>Reinforcement Learning for Reasoning in Large</a:t>
            </a:r>
          </a:p>
          <a:p>
            <a:pPr algn="ctr">
              <a:defRPr b="1" cap="all" sz="4000">
                <a:latin typeface="Marker Felt"/>
                <a:ea typeface="Marker Felt"/>
                <a:cs typeface="Marker Felt"/>
                <a:sym typeface="Marker Felt"/>
              </a:defRPr>
            </a:pPr>
            <a:r>
              <a:t>Language Models with One Training Example</a:t>
            </a:r>
          </a:p>
        </p:txBody>
      </p:sp>
      <p:grpSp>
        <p:nvGrpSpPr>
          <p:cNvPr id="99" name="Rounded Rectangle 4"/>
          <p:cNvGrpSpPr/>
          <p:nvPr/>
        </p:nvGrpSpPr>
        <p:grpSpPr>
          <a:xfrm>
            <a:off x="8183878" y="1143000"/>
            <a:ext cx="3657601" cy="4343400"/>
            <a:chOff x="0" y="0"/>
            <a:chExt cx="3657600" cy="4343400"/>
          </a:xfrm>
        </p:grpSpPr>
        <p:sp>
          <p:nvSpPr>
            <p:cNvPr id="97" name="Rounded Rectangle"/>
            <p:cNvSpPr/>
            <p:nvPr/>
          </p:nvSpPr>
          <p:spPr>
            <a:xfrm>
              <a:off x="0" y="0"/>
              <a:ext cx="3657600" cy="4343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D68A4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98" name="Scope…"/>
            <p:cNvSpPr txBox="1"/>
            <p:nvPr/>
          </p:nvSpPr>
          <p:spPr>
            <a:xfrm>
              <a:off x="229031" y="1307400"/>
              <a:ext cx="3199538" cy="17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 sz="2000">
                  <a:solidFill>
                    <a:srgbClr val="12203A"/>
                  </a:solidFill>
                </a:defRPr>
              </a:pPr>
              <a:r>
                <a:t>Scope</a:t>
              </a:r>
            </a:p>
            <a:p>
              <a:pPr>
                <a:defRPr sz="1400">
                  <a:solidFill>
                    <a:srgbClr val="1C2026"/>
                  </a:solidFill>
                </a:defRPr>
              </a:pPr>
              <a:r>
                <a:t>Course: Reinforcement Learning</a:t>
              </a:r>
            </a:p>
            <a:p>
              <a:pPr>
                <a:defRPr sz="1400">
                  <a:solidFill>
                    <a:srgbClr val="1C2026"/>
                  </a:solidFill>
                </a:defRPr>
              </a:pPr>
              <a:r>
                <a:t>Theme: RL with verifiable rewards</a:t>
              </a:r>
            </a:p>
            <a:p>
              <a:pPr>
                <a:defRPr sz="1400">
                  <a:solidFill>
                    <a:srgbClr val="1C2026"/>
                  </a:solidFill>
                </a:defRPr>
              </a:pPr>
              <a:r>
                <a:t>Base: Qwen2.5-Math-1.5B</a:t>
              </a:r>
            </a:p>
            <a:p>
              <a:pPr>
                <a:defRPr sz="1400">
                  <a:solidFill>
                    <a:srgbClr val="1C2026"/>
                  </a:solidFill>
                </a:defRPr>
              </a:pPr>
              <a:r>
                <a:t>Stack: Colab · T4 · QLoRA · TRL GRPO</a:t>
              </a:r>
            </a:p>
            <a:p>
              <a:pPr>
                <a:defRPr sz="1400">
                  <a:solidFill>
                    <a:srgbClr val="64748B"/>
                  </a:solidFill>
                </a:defRPr>
              </a:pPr>
            </a:p>
            <a:p>
              <a:pPr>
                <a:defRPr sz="1400">
                  <a:solidFill>
                    <a:srgbClr val="1C2026"/>
                  </a:solidFill>
                </a:defRPr>
              </a:pPr>
              <a:r>
                <a:t>Artifacts: RLVR.ipynb, DeePO_DAPO.ipynb</a:t>
              </a:r>
            </a:p>
          </p:txBody>
        </p:sp>
      </p:grpSp>
      <p:sp>
        <p:nvSpPr>
          <p:cNvPr id="100" name="TextBox 5"/>
          <p:cNvSpPr txBox="1"/>
          <p:nvPr/>
        </p:nvSpPr>
        <p:spPr>
          <a:xfrm>
            <a:off x="457200" y="5989320"/>
            <a:ext cx="6649453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C8D2E1"/>
                </a:solidFill>
              </a:defRPr>
            </a:lvl1pPr>
          </a:lstStyle>
          <a:p>
            <a:pPr/>
            <a:r>
              <a:t>presentation · grounded in project notebooks, Colab runs, and DAPO_Implementation_Report.md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548639" y="475487"/>
            <a:ext cx="6096892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Contributions and project innovations</a:t>
            </a:r>
          </a:p>
        </p:txBody>
      </p:sp>
      <p:sp>
        <p:nvSpPr>
          <p:cNvPr id="105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5"/>
          <p:cNvSpPr txBox="1"/>
          <p:nvPr/>
        </p:nvSpPr>
        <p:spPr>
          <a:xfrm>
            <a:off x="548639" y="1353311"/>
            <a:ext cx="304287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What this work adds beyond a slide deck</a:t>
            </a:r>
          </a:p>
        </p:txBody>
      </p:sp>
      <p:sp>
        <p:nvSpPr>
          <p:cNvPr id="107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109" name="TextBox 8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0" name="TextBox 9"/>
          <p:cNvSpPr txBox="1"/>
          <p:nvPr/>
        </p:nvSpPr>
        <p:spPr>
          <a:xfrm>
            <a:off x="521208" y="1572768"/>
            <a:ext cx="11018520" cy="1878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Reproduced the One-Shot RLVR evaluation story on Qwen2.5-Math-1.5B with the official six-benchmark protocol used in the course project.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Implemented a DAPO-style GRPO recipe—Clip-Higher, dynamic sampling awareness, token-level loss behavior, and overlong reward shaping—scaled to a 500-example GSM8K+MATH mix.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Delivered an end-to-end Colab pipeline: QLoRA adapters, training, merge for inference, and documented honest evaluation limits under free-tier GPU quotas.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Tied algorithm choices to known GRPO failure modes (entropy collapse, length bias, zero-variance groups, truncation noise) so each modification has a clear motivation.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3"/>
          <p:cNvSpPr txBox="1"/>
          <p:nvPr/>
        </p:nvSpPr>
        <p:spPr>
          <a:xfrm>
            <a:off x="548639" y="475487"/>
            <a:ext cx="1300347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115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5"/>
          <p:cNvSpPr txBox="1"/>
          <p:nvPr/>
        </p:nvSpPr>
        <p:spPr>
          <a:xfrm>
            <a:off x="548639" y="1353311"/>
            <a:ext cx="3240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Five-part narrative aligned with the live talk</a:t>
            </a:r>
          </a:p>
        </p:txBody>
      </p:sp>
      <p:sp>
        <p:nvSpPr>
          <p:cNvPr id="117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119" name="TextBox 8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0" name="TextBox 9"/>
          <p:cNvSpPr txBox="1"/>
          <p:nvPr/>
        </p:nvSpPr>
        <p:spPr>
          <a:xfrm>
            <a:off x="521207" y="1572767"/>
            <a:ext cx="6629402" cy="195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Part 1 — Motivation: why math reasoning needs RL with verifiable rewards.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Part 2 — RLVR baseline: paper claims, GRPO loop, reproduced metrics, full benchmark protocol.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Part 3 — DAPO upgrade: four coordinated techniques and reward design.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Part 4 — Engineering: T4 constraints, training curves, expected vs. actual evaluation framing.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Part 5 — Conclusion: what worked, limitations, and the next evaluation sprint.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 txBox="1"/>
          <p:nvPr/>
        </p:nvSpPr>
        <p:spPr>
          <a:xfrm>
            <a:off x="822960" y="1920239"/>
            <a:ext cx="6111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D68A48"/>
                </a:solidFill>
              </a:defRPr>
            </a:lvl1pPr>
          </a:lstStyle>
          <a:p>
            <a:pPr/>
            <a:r>
              <a:t>PART 1</a:t>
            </a:r>
          </a:p>
        </p:txBody>
      </p:sp>
      <p:sp>
        <p:nvSpPr>
          <p:cNvPr id="123" name="TextBox 2"/>
          <p:cNvSpPr txBox="1"/>
          <p:nvPr/>
        </p:nvSpPr>
        <p:spPr>
          <a:xfrm>
            <a:off x="822960" y="2423160"/>
            <a:ext cx="6292079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Why verifiable-reward RL for math</a:t>
            </a:r>
          </a:p>
        </p:txBody>
      </p:sp>
      <p:sp>
        <p:nvSpPr>
          <p:cNvPr id="124" name="TextBox 3"/>
          <p:cNvSpPr txBox="1"/>
          <p:nvPr/>
        </p:nvSpPr>
        <p:spPr>
          <a:xfrm>
            <a:off x="822959" y="3703320"/>
            <a:ext cx="63944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D2DAE8"/>
                </a:solidFill>
              </a:defRPr>
            </a:lvl1pPr>
          </a:lstStyle>
          <a:p>
            <a:pPr/>
            <a:r>
              <a:t>From flawed chain-of-thought to correctness-grounded policy improvement.</a:t>
            </a:r>
          </a:p>
        </p:txBody>
      </p:sp>
      <p:sp>
        <p:nvSpPr>
          <p:cNvPr id="125" name="Rectangle 4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5"/>
          <p:cNvSpPr txBox="1"/>
          <p:nvPr/>
        </p:nvSpPr>
        <p:spPr>
          <a:xfrm>
            <a:off x="457200" y="6565392"/>
            <a:ext cx="356500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 · Section</a:t>
            </a:r>
          </a:p>
        </p:txBody>
      </p:sp>
      <p:sp>
        <p:nvSpPr>
          <p:cNvPr id="127" name="TextBox 6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3"/>
          <p:cNvSpPr txBox="1"/>
          <p:nvPr/>
        </p:nvSpPr>
        <p:spPr>
          <a:xfrm>
            <a:off x="548639" y="475487"/>
            <a:ext cx="3143026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32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5"/>
          <p:cNvSpPr txBox="1"/>
          <p:nvPr/>
        </p:nvSpPr>
        <p:spPr>
          <a:xfrm>
            <a:off x="548639" y="1353311"/>
            <a:ext cx="384809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Large language models and mathematical reasoning</a:t>
            </a:r>
          </a:p>
        </p:txBody>
      </p:sp>
      <p:sp>
        <p:nvSpPr>
          <p:cNvPr id="134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136" name="TextBox 8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7" name="TextBox 9"/>
          <p:cNvSpPr txBox="1"/>
          <p:nvPr/>
        </p:nvSpPr>
        <p:spPr>
          <a:xfrm>
            <a:off x="521208" y="1572767"/>
            <a:ext cx="5806440" cy="210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Models often produce fluent derivations with wrong final answers—supervision on text alone under-rewards the full reasoning process.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Mathematics offers automatic verifiers: extract \boxed{} answers and compare to ground truth without human preference labels.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The project goal is not only higher accuracy but behavior that tracks multi-step reasoning under the same backbone (Qwen2.5-Math-1.5B).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RLVR demonstrates extreme data efficiency; DAPO asks how to optimize the RL loop once that signal exists.</a:t>
            </a:r>
          </a:p>
        </p:txBody>
      </p:sp>
      <p:grpSp>
        <p:nvGrpSpPr>
          <p:cNvPr id="140" name="Rounded Rectangle 10"/>
          <p:cNvGrpSpPr/>
          <p:nvPr/>
        </p:nvGrpSpPr>
        <p:grpSpPr>
          <a:xfrm>
            <a:off x="6355079" y="1691639"/>
            <a:ext cx="5166361" cy="1051561"/>
            <a:chOff x="0" y="0"/>
            <a:chExt cx="5166359" cy="1051560"/>
          </a:xfrm>
        </p:grpSpPr>
        <p:sp>
          <p:nvSpPr>
            <p:cNvPr id="138" name="Rounded Rectangle"/>
            <p:cNvSpPr/>
            <p:nvPr/>
          </p:nvSpPr>
          <p:spPr>
            <a:xfrm>
              <a:off x="0" y="0"/>
              <a:ext cx="5166360" cy="105156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139" name="Research question…"/>
            <p:cNvSpPr txBox="1"/>
            <p:nvPr/>
          </p:nvSpPr>
          <p:spPr>
            <a:xfrm>
              <a:off x="101815" y="192077"/>
              <a:ext cx="4962730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Research question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Can verifiable-reward RL improve a small open math model, and can a DAPO-style recipe make that RL phase stabler on limited hardware?</a:t>
              </a:r>
            </a:p>
          </p:txBody>
        </p:sp>
      </p:grpSp>
      <p:grpSp>
        <p:nvGrpSpPr>
          <p:cNvPr id="143" name="Rounded Rectangle 11"/>
          <p:cNvGrpSpPr/>
          <p:nvPr/>
        </p:nvGrpSpPr>
        <p:grpSpPr>
          <a:xfrm>
            <a:off x="6355079" y="2971800"/>
            <a:ext cx="5166361" cy="1005840"/>
            <a:chOff x="0" y="0"/>
            <a:chExt cx="5166359" cy="1005839"/>
          </a:xfrm>
        </p:grpSpPr>
        <p:sp>
          <p:nvSpPr>
            <p:cNvPr id="141" name="Rounded Rectangle"/>
            <p:cNvSpPr/>
            <p:nvPr/>
          </p:nvSpPr>
          <p:spPr>
            <a:xfrm>
              <a:off x="0" y="0"/>
              <a:ext cx="5166360" cy="100584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142" name="Project arc…"/>
            <p:cNvSpPr txBox="1"/>
            <p:nvPr/>
          </p:nvSpPr>
          <p:spPr>
            <a:xfrm>
              <a:off x="99583" y="169217"/>
              <a:ext cx="4967194" cy="667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Project arc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Reproduce → diagnose GRPO limits → implement targeted fixes → report results with intellectual honesty.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3"/>
          <p:cNvSpPr txBox="1"/>
          <p:nvPr/>
        </p:nvSpPr>
        <p:spPr>
          <a:xfrm>
            <a:off x="548639" y="475487"/>
            <a:ext cx="2739887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Project roadmap</a:t>
            </a:r>
          </a:p>
        </p:txBody>
      </p:sp>
      <p:sp>
        <p:nvSpPr>
          <p:cNvPr id="148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5"/>
          <p:cNvSpPr txBox="1"/>
          <p:nvPr/>
        </p:nvSpPr>
        <p:spPr>
          <a:xfrm>
            <a:off x="548639" y="1353311"/>
            <a:ext cx="298549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From paper reading to merged adapters</a:t>
            </a:r>
          </a:p>
        </p:txBody>
      </p:sp>
      <p:sp>
        <p:nvSpPr>
          <p:cNvPr id="150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152" name="TextBox 8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3" name="TextBox 9"/>
          <p:cNvSpPr txBox="1"/>
          <p:nvPr/>
        </p:nvSpPr>
        <p:spPr>
          <a:xfrm>
            <a:off x="521207" y="1572767"/>
            <a:ext cx="10972802" cy="15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Understand RLVR (one-shot verifiable RL) and its reported jumps on MATH500 and the six-benchmark average.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Run RLVR.ipynb and align numbers with the official evaluation flow.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Study DAPO as a systems + algorithms stack for large-scale reasoning RL; extract techniques portable to 1.5B.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Implement DeePO_DAPO.ipynb: QLoRA, GRPOTrainer, shaped rewards, Clip-Higher epsilon, 200 steps.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Save adapters, merge weights, and schedule evaluation—documenting quota and memory barriers explicitly.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3"/>
          <p:cNvSpPr txBox="1"/>
          <p:nvPr/>
        </p:nvSpPr>
        <p:spPr>
          <a:xfrm>
            <a:off x="548639" y="475487"/>
            <a:ext cx="418538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RLVR paper — core claims</a:t>
            </a:r>
          </a:p>
        </p:txBody>
      </p:sp>
      <p:sp>
        <p:nvSpPr>
          <p:cNvPr id="158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5"/>
          <p:cNvSpPr txBox="1"/>
          <p:nvPr/>
        </p:nvSpPr>
        <p:spPr>
          <a:xfrm>
            <a:off x="548639" y="1353311"/>
            <a:ext cx="318082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One training example, large capability shift</a:t>
            </a:r>
          </a:p>
        </p:txBody>
      </p:sp>
      <p:sp>
        <p:nvSpPr>
          <p:cNvPr id="160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162" name="TextBox 8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3" name="TextBox 9"/>
          <p:cNvSpPr txBox="1"/>
          <p:nvPr/>
        </p:nvSpPr>
        <p:spPr>
          <a:xfrm>
            <a:off x="521207" y="1572767"/>
            <a:ext cx="6492242" cy="21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RLVR shows that a single carefully chosen math example can unlock large benchmark gains via GRPO-style training.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Reported on Qwen2.5-Math-1.5B: MATH500 ~36.0% → 73.6%; six-benchmark average ~17.6% → 35.7%.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Our reproduced baseline sits at 73.0% on MATH500 with ~33.9% average—consistent with the paper-scale story.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Implication: verifiable reward + policy optimization can be radically sample-efficient in math.</a:t>
            </a:r>
          </a:p>
        </p:txBody>
      </p:sp>
      <p:grpSp>
        <p:nvGrpSpPr>
          <p:cNvPr id="166" name="Rounded Rectangle 10"/>
          <p:cNvGrpSpPr/>
          <p:nvPr/>
        </p:nvGrpSpPr>
        <p:grpSpPr>
          <a:xfrm>
            <a:off x="7269480" y="1691639"/>
            <a:ext cx="4343401" cy="1097281"/>
            <a:chOff x="0" y="0"/>
            <a:chExt cx="4343400" cy="1097280"/>
          </a:xfrm>
        </p:grpSpPr>
        <p:sp>
          <p:nvSpPr>
            <p:cNvPr id="164" name="Rounded Rectangle"/>
            <p:cNvSpPr/>
            <p:nvPr/>
          </p:nvSpPr>
          <p:spPr>
            <a:xfrm>
              <a:off x="0" y="0"/>
              <a:ext cx="4343400" cy="109728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165" name="Why it matters…"/>
            <p:cNvSpPr txBox="1"/>
            <p:nvPr/>
          </p:nvSpPr>
          <p:spPr>
            <a:xfrm>
              <a:off x="104047" y="214937"/>
              <a:ext cx="4135306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Why it matters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It reframes RL data needs for reasoning: correctness labels plus exploration can beat naive scaling assumptions.</a:t>
              </a:r>
            </a:p>
          </p:txBody>
        </p:sp>
      </p:grpSp>
      <p:grpSp>
        <p:nvGrpSpPr>
          <p:cNvPr id="169" name="Rounded Rectangle 11"/>
          <p:cNvGrpSpPr/>
          <p:nvPr/>
        </p:nvGrpSpPr>
        <p:grpSpPr>
          <a:xfrm>
            <a:off x="7269480" y="3063239"/>
            <a:ext cx="4343401" cy="914401"/>
            <a:chOff x="0" y="0"/>
            <a:chExt cx="4343400" cy="914400"/>
          </a:xfrm>
        </p:grpSpPr>
        <p:sp>
          <p:nvSpPr>
            <p:cNvPr id="167" name="Rounded Rectangle"/>
            <p:cNvSpPr/>
            <p:nvPr/>
          </p:nvSpPr>
          <p:spPr>
            <a:xfrm>
              <a:off x="0" y="0"/>
              <a:ext cx="4343400" cy="91440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168" name="Bridge to DAPO…"/>
            <p:cNvSpPr txBox="1"/>
            <p:nvPr/>
          </p:nvSpPr>
          <p:spPr>
            <a:xfrm>
              <a:off x="95119" y="123497"/>
              <a:ext cx="4153162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Bridge to DAPO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If the signal is there, the next bottleneck is optimization quality—exactly what DAPO targets.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3"/>
          <p:cNvSpPr txBox="1"/>
          <p:nvPr/>
        </p:nvSpPr>
        <p:spPr>
          <a:xfrm>
            <a:off x="548639" y="475487"/>
            <a:ext cx="2782676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RLVR in one slide</a:t>
            </a:r>
          </a:p>
        </p:txBody>
      </p:sp>
      <p:sp>
        <p:nvSpPr>
          <p:cNvPr id="174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5"/>
          <p:cNvSpPr txBox="1"/>
          <p:nvPr/>
        </p:nvSpPr>
        <p:spPr>
          <a:xfrm>
            <a:off x="548639" y="1353311"/>
            <a:ext cx="349050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Reinforcement learning with verifiable rewards</a:t>
            </a:r>
          </a:p>
        </p:txBody>
      </p:sp>
      <p:sp>
        <p:nvSpPr>
          <p:cNvPr id="176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178" name="TextBox 8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79" name="TextBox 9"/>
          <p:cNvSpPr txBox="1"/>
          <p:nvPr/>
        </p:nvSpPr>
        <p:spPr>
          <a:xfrm>
            <a:off x="521207" y="1572767"/>
            <a:ext cx="5715002" cy="187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RLVR = policy learning where reward comes from automatic correctness checks on final answers.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Avoids costly human preference models while keeping learning aligned with ground truth.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Particularly clean in math: parse \boxed{}, normalize, compare.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Pairs naturally with group-based policy optimization (GRPO): relative advantages within sampled completions.</a:t>
            </a:r>
          </a:p>
        </p:txBody>
      </p:sp>
      <p:grpSp>
        <p:nvGrpSpPr>
          <p:cNvPr id="182" name="Rounded Rectangle 10"/>
          <p:cNvGrpSpPr/>
          <p:nvPr/>
        </p:nvGrpSpPr>
        <p:grpSpPr>
          <a:xfrm>
            <a:off x="6263640" y="1691639"/>
            <a:ext cx="5257801" cy="1005841"/>
            <a:chOff x="0" y="0"/>
            <a:chExt cx="5257800" cy="1005839"/>
          </a:xfrm>
        </p:grpSpPr>
        <p:sp>
          <p:nvSpPr>
            <p:cNvPr id="180" name="Rounded Rectangle"/>
            <p:cNvSpPr/>
            <p:nvPr/>
          </p:nvSpPr>
          <p:spPr>
            <a:xfrm>
              <a:off x="0" y="0"/>
              <a:ext cx="5257800" cy="100584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181" name="Contrast with SFT…"/>
            <p:cNvSpPr txBox="1"/>
            <p:nvPr/>
          </p:nvSpPr>
          <p:spPr>
            <a:xfrm>
              <a:off x="99583" y="169217"/>
              <a:ext cx="5058634" cy="667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Contrast with SFT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SFT teaches token patterns; RLVR reweights trajectories that actually solve the task under the verifier.</a:t>
              </a:r>
            </a:p>
          </p:txBody>
        </p:sp>
      </p:grpSp>
      <p:grpSp>
        <p:nvGrpSpPr>
          <p:cNvPr id="185" name="Rounded Rectangle 11"/>
          <p:cNvGrpSpPr/>
          <p:nvPr/>
        </p:nvGrpSpPr>
        <p:grpSpPr>
          <a:xfrm>
            <a:off x="6263640" y="2971800"/>
            <a:ext cx="5257801" cy="960120"/>
            <a:chOff x="0" y="0"/>
            <a:chExt cx="5257800" cy="960119"/>
          </a:xfrm>
        </p:grpSpPr>
        <p:sp>
          <p:nvSpPr>
            <p:cNvPr id="183" name="Rounded Rectangle"/>
            <p:cNvSpPr/>
            <p:nvPr/>
          </p:nvSpPr>
          <p:spPr>
            <a:xfrm>
              <a:off x="0" y="0"/>
              <a:ext cx="5257800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184" name="Course hook…"/>
            <p:cNvSpPr txBox="1"/>
            <p:nvPr/>
          </p:nvSpPr>
          <p:spPr>
            <a:xfrm>
              <a:off x="97351" y="146357"/>
              <a:ext cx="5063098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Course hook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This project is a concrete instance of RL with structured reward engineering—not toy gridworlds.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3"/>
          <p:cNvSpPr txBox="1"/>
          <p:nvPr/>
        </p:nvSpPr>
        <p:spPr>
          <a:xfrm>
            <a:off x="548639" y="475487"/>
            <a:ext cx="6406082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GRPO baseline (DeepSeekMath lineage)</a:t>
            </a:r>
          </a:p>
        </p:txBody>
      </p:sp>
      <p:sp>
        <p:nvSpPr>
          <p:cNvPr id="190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5"/>
          <p:cNvSpPr txBox="1"/>
          <p:nvPr/>
        </p:nvSpPr>
        <p:spPr>
          <a:xfrm>
            <a:off x="548639" y="1353311"/>
            <a:ext cx="31333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Group-relative advantages without a critic</a:t>
            </a:r>
          </a:p>
        </p:txBody>
      </p:sp>
      <p:sp>
        <p:nvSpPr>
          <p:cNvPr id="192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194" name="TextBox 8"/>
          <p:cNvSpPr txBox="1"/>
          <p:nvPr/>
        </p:nvSpPr>
        <p:spPr>
          <a:xfrm>
            <a:off x="11803695" y="6565392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95" name="TextBox 9"/>
          <p:cNvSpPr txBox="1"/>
          <p:nvPr/>
        </p:nvSpPr>
        <p:spPr>
          <a:xfrm>
            <a:off x="548639" y="1600200"/>
            <a:ext cx="10972802" cy="193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C2026"/>
                </a:solidFill>
              </a:defRPr>
            </a:pPr>
            <a:r>
              <a:t>Advantage for completion i in a group of K samples:</a:t>
            </a:r>
          </a:p>
          <a:p>
            <a:pPr>
              <a:spcBef>
                <a:spcPts val="400"/>
              </a:spcBef>
              <a:defRPr sz="1200">
                <a:solidFill>
                  <a:srgbClr val="1C202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A_i = ( r_i - mean(r) ) / std(r)   (std guard for degenerate groups)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1C2026"/>
                </a:solidFill>
              </a:defRPr>
            </a:pPr>
            <a:r>
              <a:t>Clipped surrogate (PPO-style), minimizing:</a:t>
            </a:r>
          </a:p>
          <a:p>
            <a:pPr>
              <a:spcBef>
                <a:spcPts val="400"/>
              </a:spcBef>
              <a:defRPr sz="1200">
                <a:solidFill>
                  <a:srgbClr val="1C202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 = - E[ min( rho_t A_t , clip(rho_t, 1-eps, 1+eps) A_t ) ]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1C2026"/>
                </a:solidFill>
              </a:defRPr>
            </a:pPr>
            <a:r>
              <a:t>GRPO removes a separate value network by normalizing rewards within each prompt group—efficient but sensitive to clipping, length aggregation, and reward sparsity.</a:t>
            </a:r>
          </a:p>
        </p:txBody>
      </p:sp>
      <p:grpSp>
        <p:nvGrpSpPr>
          <p:cNvPr id="198" name="Rounded Rectangle 10"/>
          <p:cNvGrpSpPr/>
          <p:nvPr/>
        </p:nvGrpSpPr>
        <p:grpSpPr>
          <a:xfrm>
            <a:off x="502919" y="3703320"/>
            <a:ext cx="11064242" cy="960121"/>
            <a:chOff x="0" y="0"/>
            <a:chExt cx="11064240" cy="960119"/>
          </a:xfrm>
        </p:grpSpPr>
        <p:sp>
          <p:nvSpPr>
            <p:cNvPr id="196" name="Rounded Rectangle"/>
            <p:cNvSpPr/>
            <p:nvPr/>
          </p:nvSpPr>
          <p:spPr>
            <a:xfrm>
              <a:off x="0" y="0"/>
              <a:ext cx="11064241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197" name="Project use…"/>
            <p:cNvSpPr txBox="1"/>
            <p:nvPr/>
          </p:nvSpPr>
          <p:spPr>
            <a:xfrm>
              <a:off x="97351" y="241607"/>
              <a:ext cx="10869538" cy="4769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Project use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TRL GRPOTrainer instantiates this loop; DAPO modifies how clipping, sampling, token loss, and length enter the objective.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3"/>
          <p:cNvSpPr txBox="1"/>
          <p:nvPr/>
        </p:nvSpPr>
        <p:spPr>
          <a:xfrm>
            <a:off x="548639" y="475487"/>
            <a:ext cx="2993639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RLVR training loop</a:t>
            </a:r>
          </a:p>
        </p:txBody>
      </p:sp>
      <p:sp>
        <p:nvSpPr>
          <p:cNvPr id="203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5"/>
          <p:cNvSpPr txBox="1"/>
          <p:nvPr/>
        </p:nvSpPr>
        <p:spPr>
          <a:xfrm>
            <a:off x="548639" y="1353311"/>
            <a:ext cx="281090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Prompt → group → reward → update</a:t>
            </a:r>
          </a:p>
        </p:txBody>
      </p:sp>
      <p:sp>
        <p:nvSpPr>
          <p:cNvPr id="205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207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10</a:t>
            </a:r>
          </a:p>
        </p:txBody>
      </p:sp>
      <p:grpSp>
        <p:nvGrpSpPr>
          <p:cNvPr id="210" name="Rounded Rectangle 9"/>
          <p:cNvGrpSpPr/>
          <p:nvPr/>
        </p:nvGrpSpPr>
        <p:grpSpPr>
          <a:xfrm>
            <a:off x="594359" y="2240279"/>
            <a:ext cx="1664209" cy="960121"/>
            <a:chOff x="0" y="0"/>
            <a:chExt cx="1664207" cy="960119"/>
          </a:xfrm>
        </p:grpSpPr>
        <p:sp>
          <p:nvSpPr>
            <p:cNvPr id="208" name="Rounded Rectangle"/>
            <p:cNvSpPr/>
            <p:nvPr/>
          </p:nvSpPr>
          <p:spPr>
            <a:xfrm>
              <a:off x="0" y="0"/>
              <a:ext cx="1664208" cy="96012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1220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09" name="Prompt"/>
            <p:cNvSpPr txBox="1"/>
            <p:nvPr/>
          </p:nvSpPr>
          <p:spPr>
            <a:xfrm>
              <a:off x="97351" y="341061"/>
              <a:ext cx="1469505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1C2026"/>
                  </a:solidFill>
                </a:defRPr>
              </a:lvl1pPr>
            </a:lstStyle>
            <a:p>
              <a:pPr/>
              <a:r>
                <a:t>Prompt</a:t>
              </a:r>
            </a:p>
          </p:txBody>
        </p:sp>
      </p:grpSp>
      <p:sp>
        <p:nvSpPr>
          <p:cNvPr id="211" name="Chevron 10"/>
          <p:cNvSpPr/>
          <p:nvPr/>
        </p:nvSpPr>
        <p:spPr>
          <a:xfrm>
            <a:off x="2331720" y="2487167"/>
            <a:ext cx="475489" cy="438913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4" name="Rounded Rectangle 11"/>
          <p:cNvGrpSpPr/>
          <p:nvPr/>
        </p:nvGrpSpPr>
        <p:grpSpPr>
          <a:xfrm>
            <a:off x="2606039" y="2240279"/>
            <a:ext cx="1664209" cy="960121"/>
            <a:chOff x="0" y="0"/>
            <a:chExt cx="1664207" cy="960119"/>
          </a:xfrm>
        </p:grpSpPr>
        <p:sp>
          <p:nvSpPr>
            <p:cNvPr id="212" name="Rounded Rectangle"/>
            <p:cNvSpPr/>
            <p:nvPr/>
          </p:nvSpPr>
          <p:spPr>
            <a:xfrm>
              <a:off x="0" y="0"/>
              <a:ext cx="1664208" cy="96012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1220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3" name="Sample…"/>
            <p:cNvSpPr txBox="1"/>
            <p:nvPr/>
          </p:nvSpPr>
          <p:spPr>
            <a:xfrm>
              <a:off x="97351" y="199216"/>
              <a:ext cx="1469505" cy="5616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1C2026"/>
                  </a:solidFill>
                </a:defRPr>
              </a:pPr>
              <a:r>
                <a:t>Sample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group</a:t>
              </a:r>
            </a:p>
          </p:txBody>
        </p:sp>
      </p:grpSp>
      <p:sp>
        <p:nvSpPr>
          <p:cNvPr id="215" name="Chevron 12"/>
          <p:cNvSpPr/>
          <p:nvPr/>
        </p:nvSpPr>
        <p:spPr>
          <a:xfrm>
            <a:off x="4343400" y="2487167"/>
            <a:ext cx="475488" cy="438913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8" name="Rounded Rectangle 13"/>
          <p:cNvGrpSpPr/>
          <p:nvPr/>
        </p:nvGrpSpPr>
        <p:grpSpPr>
          <a:xfrm>
            <a:off x="4800600" y="2240279"/>
            <a:ext cx="1664208" cy="960121"/>
            <a:chOff x="0" y="0"/>
            <a:chExt cx="1664207" cy="960119"/>
          </a:xfrm>
        </p:grpSpPr>
        <p:sp>
          <p:nvSpPr>
            <p:cNvPr id="216" name="Rounded Rectangle"/>
            <p:cNvSpPr/>
            <p:nvPr/>
          </p:nvSpPr>
          <p:spPr>
            <a:xfrm>
              <a:off x="0" y="0"/>
              <a:ext cx="1664208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B45F2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17" name="Reward"/>
            <p:cNvSpPr txBox="1"/>
            <p:nvPr/>
          </p:nvSpPr>
          <p:spPr>
            <a:xfrm>
              <a:off x="97351" y="341061"/>
              <a:ext cx="1469505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1C2026"/>
                  </a:solidFill>
                </a:defRPr>
              </a:lvl1pPr>
            </a:lstStyle>
            <a:p>
              <a:pPr/>
              <a:r>
                <a:t>Reward</a:t>
              </a:r>
            </a:p>
          </p:txBody>
        </p:sp>
      </p:grpSp>
      <p:sp>
        <p:nvSpPr>
          <p:cNvPr id="219" name="Chevron 14"/>
          <p:cNvSpPr/>
          <p:nvPr/>
        </p:nvSpPr>
        <p:spPr>
          <a:xfrm>
            <a:off x="6537959" y="2487167"/>
            <a:ext cx="475489" cy="438913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2" name="Rounded Rectangle 15"/>
          <p:cNvGrpSpPr/>
          <p:nvPr/>
        </p:nvGrpSpPr>
        <p:grpSpPr>
          <a:xfrm>
            <a:off x="6903719" y="2240279"/>
            <a:ext cx="1664209" cy="960121"/>
            <a:chOff x="0" y="0"/>
            <a:chExt cx="1664207" cy="960119"/>
          </a:xfrm>
        </p:grpSpPr>
        <p:sp>
          <p:nvSpPr>
            <p:cNvPr id="220" name="Rounded Rectangle"/>
            <p:cNvSpPr/>
            <p:nvPr/>
          </p:nvSpPr>
          <p:spPr>
            <a:xfrm>
              <a:off x="0" y="0"/>
              <a:ext cx="1664208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B45F2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1" name="GRPO…"/>
            <p:cNvSpPr txBox="1"/>
            <p:nvPr/>
          </p:nvSpPr>
          <p:spPr>
            <a:xfrm>
              <a:off x="97351" y="199216"/>
              <a:ext cx="1469505" cy="5616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1C2026"/>
                  </a:solidFill>
                </a:defRPr>
              </a:pPr>
              <a:r>
                <a:t>GRPO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update</a:t>
              </a:r>
            </a:p>
          </p:txBody>
        </p:sp>
      </p:grpSp>
      <p:sp>
        <p:nvSpPr>
          <p:cNvPr id="223" name="Chevron 16"/>
          <p:cNvSpPr/>
          <p:nvPr/>
        </p:nvSpPr>
        <p:spPr>
          <a:xfrm>
            <a:off x="8641080" y="2487167"/>
            <a:ext cx="475489" cy="438913"/>
          </a:xfrm>
          <a:prstGeom prst="chevron">
            <a:avLst>
              <a:gd name="adj" fmla="val 50000"/>
            </a:avLst>
          </a:prstGeom>
          <a:solidFill>
            <a:srgbClr val="CBD5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6" name="Rounded Rectangle 17"/>
          <p:cNvGrpSpPr/>
          <p:nvPr/>
        </p:nvGrpSpPr>
        <p:grpSpPr>
          <a:xfrm>
            <a:off x="9098280" y="2240279"/>
            <a:ext cx="1664209" cy="960121"/>
            <a:chOff x="0" y="0"/>
            <a:chExt cx="1664207" cy="960119"/>
          </a:xfrm>
        </p:grpSpPr>
        <p:sp>
          <p:nvSpPr>
            <p:cNvPr id="224" name="Rounded Rectangle"/>
            <p:cNvSpPr/>
            <p:nvPr/>
          </p:nvSpPr>
          <p:spPr>
            <a:xfrm>
              <a:off x="0" y="0"/>
              <a:ext cx="1664208" cy="96012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1220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25" name="Evaluate"/>
            <p:cNvSpPr txBox="1"/>
            <p:nvPr/>
          </p:nvSpPr>
          <p:spPr>
            <a:xfrm>
              <a:off x="97351" y="341061"/>
              <a:ext cx="1469505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1C2026"/>
                  </a:solidFill>
                </a:defRPr>
              </a:lvl1pPr>
            </a:lstStyle>
            <a:p>
              <a:pPr/>
              <a:r>
                <a:t>Evaluate</a:t>
              </a:r>
            </a:p>
          </p:txBody>
        </p:sp>
      </p:grpSp>
      <p:grpSp>
        <p:nvGrpSpPr>
          <p:cNvPr id="229" name="Rounded Rectangle 18"/>
          <p:cNvGrpSpPr/>
          <p:nvPr/>
        </p:nvGrpSpPr>
        <p:grpSpPr>
          <a:xfrm>
            <a:off x="502919" y="3611879"/>
            <a:ext cx="4892042" cy="1051561"/>
            <a:chOff x="0" y="0"/>
            <a:chExt cx="4892040" cy="1051560"/>
          </a:xfrm>
        </p:grpSpPr>
        <p:sp>
          <p:nvSpPr>
            <p:cNvPr id="227" name="Rounded Rectangle"/>
            <p:cNvSpPr/>
            <p:nvPr/>
          </p:nvSpPr>
          <p:spPr>
            <a:xfrm>
              <a:off x="0" y="0"/>
              <a:ext cx="4892041" cy="105156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28" name="Verifiable reward…"/>
            <p:cNvSpPr txBox="1"/>
            <p:nvPr/>
          </p:nvSpPr>
          <p:spPr>
            <a:xfrm>
              <a:off x="101815" y="192077"/>
              <a:ext cx="4688410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Verifiable reward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Final math answers can be checked programmatically; correctness becomes the learning signal instead of human preferences.</a:t>
              </a:r>
            </a:p>
          </p:txBody>
        </p:sp>
      </p:grpSp>
      <p:grpSp>
        <p:nvGrpSpPr>
          <p:cNvPr id="232" name="Rounded Rectangle 19"/>
          <p:cNvGrpSpPr/>
          <p:nvPr/>
        </p:nvGrpSpPr>
        <p:grpSpPr>
          <a:xfrm>
            <a:off x="5806440" y="3611879"/>
            <a:ext cx="5440681" cy="1051561"/>
            <a:chOff x="0" y="0"/>
            <a:chExt cx="5440679" cy="1051560"/>
          </a:xfrm>
        </p:grpSpPr>
        <p:sp>
          <p:nvSpPr>
            <p:cNvPr id="230" name="Rounded Rectangle"/>
            <p:cNvSpPr/>
            <p:nvPr/>
          </p:nvSpPr>
          <p:spPr>
            <a:xfrm>
              <a:off x="0" y="0"/>
              <a:ext cx="5440680" cy="1051561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31" name="Policy signal…"/>
            <p:cNvSpPr txBox="1"/>
            <p:nvPr/>
          </p:nvSpPr>
          <p:spPr>
            <a:xfrm>
              <a:off x="101815" y="192077"/>
              <a:ext cx="5237050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Policy signal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The optimizer upweights reasoning traces that end in correct \boxed{} answers relative to the group.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3"/>
          <p:cNvSpPr txBox="1"/>
          <p:nvPr/>
        </p:nvSpPr>
        <p:spPr>
          <a:xfrm>
            <a:off x="548639" y="475487"/>
            <a:ext cx="504635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RLVR implementation snapshot</a:t>
            </a:r>
          </a:p>
        </p:txBody>
      </p:sp>
      <p:sp>
        <p:nvSpPr>
          <p:cNvPr id="237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5"/>
          <p:cNvSpPr txBox="1"/>
          <p:nvPr/>
        </p:nvSpPr>
        <p:spPr>
          <a:xfrm>
            <a:off x="548639" y="1353311"/>
            <a:ext cx="27992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What we actually ran for the baseline</a:t>
            </a:r>
          </a:p>
        </p:txBody>
      </p:sp>
      <p:sp>
        <p:nvSpPr>
          <p:cNvPr id="239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241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11</a:t>
            </a:r>
          </a:p>
        </p:txBody>
      </p:sp>
      <p:graphicFrame>
        <p:nvGraphicFramePr>
          <p:cNvPr id="242" name="Table 9"/>
          <p:cNvGraphicFramePr/>
          <p:nvPr/>
        </p:nvGraphicFramePr>
        <p:xfrm>
          <a:off x="475487" y="1572767"/>
          <a:ext cx="6537961" cy="324612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268980"/>
                <a:gridCol w="3268980"/>
              </a:tblGrid>
              <a:tr h="54102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Base model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Qwen2.5-Math-1.5B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Evaluation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One-Shot-RLVR official pipeline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Environment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Google Colab · Tesla T4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Benchmarks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MATH500, AMC23×8, AIME24×8, AIME25×8, Minerva, OlympiadBench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Decoding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Greedy or multi-sample per benchmark protocol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3" name="TextBox 10"/>
          <p:cNvSpPr txBox="1"/>
          <p:nvPr/>
        </p:nvSpPr>
        <p:spPr>
          <a:xfrm>
            <a:off x="7223760" y="1691639"/>
            <a:ext cx="4434841" cy="157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RLVR.ipynb encodes the baseline path and evaluation hooks.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Numbers in this deck match the implementation report’s reproduced table.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This baseline is the scientific reference for any DAPO-style upgrade.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3"/>
          <p:cNvSpPr txBox="1"/>
          <p:nvPr/>
        </p:nvSpPr>
        <p:spPr>
          <a:xfrm>
            <a:off x="548639" y="475487"/>
            <a:ext cx="453029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Benchmark protocol (detail)</a:t>
            </a:r>
          </a:p>
        </p:txBody>
      </p:sp>
      <p:sp>
        <p:nvSpPr>
          <p:cNvPr id="248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5"/>
          <p:cNvSpPr txBox="1"/>
          <p:nvPr/>
        </p:nvSpPr>
        <p:spPr>
          <a:xfrm>
            <a:off x="548639" y="1353311"/>
            <a:ext cx="492132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Counts, difficulty, and sampling — from the implementation report</a:t>
            </a:r>
          </a:p>
        </p:txBody>
      </p:sp>
      <p:sp>
        <p:nvSpPr>
          <p:cNvPr id="250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252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12</a:t>
            </a:r>
          </a:p>
        </p:txBody>
      </p:sp>
      <p:graphicFrame>
        <p:nvGraphicFramePr>
          <p:cNvPr id="253" name="Table 9"/>
          <p:cNvGraphicFramePr/>
          <p:nvPr/>
        </p:nvGraphicFramePr>
        <p:xfrm>
          <a:off x="488950" y="1836611"/>
          <a:ext cx="11201400" cy="452628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64661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Problems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Difficulty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Sampling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MATH500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500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Mixed L1–L5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Greedy T=0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AMC23×8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320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Competition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T=0.6, 8 samples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OlympiadBench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675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Olympiad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Greedy T=0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Minerva Math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272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University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Greedy T=0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AIME24×8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240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Competition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T=0.6, 8 samples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AIME25×8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240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Competition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T=0.6, 8 samples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3"/>
          <p:cNvSpPr txBox="1"/>
          <p:nvPr/>
        </p:nvSpPr>
        <p:spPr>
          <a:xfrm>
            <a:off x="548639" y="475487"/>
            <a:ext cx="343882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RLVR baseline results</a:t>
            </a:r>
          </a:p>
        </p:txBody>
      </p:sp>
      <p:sp>
        <p:nvSpPr>
          <p:cNvPr id="258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TextBox 5"/>
          <p:cNvSpPr txBox="1"/>
          <p:nvPr/>
        </p:nvSpPr>
        <p:spPr>
          <a:xfrm>
            <a:off x="548639" y="1353311"/>
            <a:ext cx="176285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Reproduced accuracies</a:t>
            </a:r>
          </a:p>
        </p:txBody>
      </p:sp>
      <p:sp>
        <p:nvSpPr>
          <p:cNvPr id="260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262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13</a:t>
            </a:r>
          </a:p>
        </p:txBody>
      </p:sp>
      <p:pic>
        <p:nvPicPr>
          <p:cNvPr id="263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5487" y="1572767"/>
            <a:ext cx="6537961" cy="416052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6" name="Rounded Rectangle 10"/>
          <p:cNvGrpSpPr/>
          <p:nvPr/>
        </p:nvGrpSpPr>
        <p:grpSpPr>
          <a:xfrm>
            <a:off x="7269480" y="1627632"/>
            <a:ext cx="4297681" cy="1005841"/>
            <a:chOff x="0" y="0"/>
            <a:chExt cx="4297679" cy="1005839"/>
          </a:xfrm>
        </p:grpSpPr>
        <p:sp>
          <p:nvSpPr>
            <p:cNvPr id="264" name="Rounded Rectangle"/>
            <p:cNvSpPr/>
            <p:nvPr/>
          </p:nvSpPr>
          <p:spPr>
            <a:xfrm>
              <a:off x="0" y="0"/>
              <a:ext cx="4297680" cy="100584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65" name="Takeaway…"/>
            <p:cNvSpPr txBox="1"/>
            <p:nvPr/>
          </p:nvSpPr>
          <p:spPr>
            <a:xfrm>
              <a:off x="99583" y="169217"/>
              <a:ext cx="4098514" cy="667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Takeaway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Strongest on MATH500; AIME-style benchmarks remain difficult for the 1.5B baseline.</a:t>
              </a:r>
            </a:p>
          </p:txBody>
        </p:sp>
      </p:grpSp>
      <p:grpSp>
        <p:nvGrpSpPr>
          <p:cNvPr id="269" name="Rounded Rectangle 11"/>
          <p:cNvGrpSpPr/>
          <p:nvPr/>
        </p:nvGrpSpPr>
        <p:grpSpPr>
          <a:xfrm>
            <a:off x="7269480" y="2852927"/>
            <a:ext cx="4297681" cy="914401"/>
            <a:chOff x="0" y="0"/>
            <a:chExt cx="4297679" cy="914400"/>
          </a:xfrm>
        </p:grpSpPr>
        <p:sp>
          <p:nvSpPr>
            <p:cNvPr id="267" name="Rounded Rectangle"/>
            <p:cNvSpPr/>
            <p:nvPr/>
          </p:nvSpPr>
          <p:spPr>
            <a:xfrm>
              <a:off x="0" y="0"/>
              <a:ext cx="4297680" cy="91440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68" name="Aggregate…"/>
            <p:cNvSpPr txBox="1"/>
            <p:nvPr/>
          </p:nvSpPr>
          <p:spPr>
            <a:xfrm>
              <a:off x="95119" y="123497"/>
              <a:ext cx="4107442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Aggregate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Mean accuracy across the six benchmarks is about 33.9%, matching the implementation report.</a:t>
              </a:r>
            </a:p>
          </p:txBody>
        </p:sp>
      </p:grpSp>
      <p:graphicFrame>
        <p:nvGraphicFramePr>
          <p:cNvPr id="270" name="Table 12"/>
          <p:cNvGraphicFramePr/>
          <p:nvPr/>
        </p:nvGraphicFramePr>
        <p:xfrm>
          <a:off x="7269480" y="4069079"/>
          <a:ext cx="4297681" cy="14173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148840"/>
                <a:gridCol w="2148840"/>
              </a:tblGrid>
              <a:tr h="202474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MATH500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73.0%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AMC23×8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50.9%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OlympiadBench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33.8%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Minerva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27.9%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AIME24×8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12.5%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20247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AIME25×8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3"/>
          <p:cNvSpPr txBox="1"/>
          <p:nvPr/>
        </p:nvSpPr>
        <p:spPr>
          <a:xfrm>
            <a:off x="548639" y="475487"/>
            <a:ext cx="5190715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Why move beyond vanilla GRPO</a:t>
            </a:r>
          </a:p>
        </p:txBody>
      </p:sp>
      <p:sp>
        <p:nvSpPr>
          <p:cNvPr id="275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5"/>
          <p:cNvSpPr txBox="1"/>
          <p:nvPr/>
        </p:nvSpPr>
        <p:spPr>
          <a:xfrm>
            <a:off x="548639" y="1353311"/>
            <a:ext cx="27716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Baseline strength ≠ optimal RL recipe</a:t>
            </a:r>
          </a:p>
        </p:txBody>
      </p:sp>
      <p:sp>
        <p:nvSpPr>
          <p:cNvPr id="277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279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80" name="TextBox 9"/>
          <p:cNvSpPr txBox="1"/>
          <p:nvPr/>
        </p:nvSpPr>
        <p:spPr>
          <a:xfrm>
            <a:off x="521207" y="1572767"/>
            <a:ext cx="5897882" cy="24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The RLVR baseline is already strong on MATH500—so improvements must be carefully attributed.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Plain GRPO can show entropy collapse: policy variance shrinks and exploration dies.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Sequence-level aggregation can bias against long correct derivations.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Zero-variance groups waste backward passes; hard truncation injects reward noise.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DAPO bundles fixes aimed exactly at these mechanics—not a unrelated new paradigm.</a:t>
            </a:r>
          </a:p>
        </p:txBody>
      </p:sp>
      <p:grpSp>
        <p:nvGrpSpPr>
          <p:cNvPr id="283" name="Rounded Rectangle 10"/>
          <p:cNvGrpSpPr/>
          <p:nvPr/>
        </p:nvGrpSpPr>
        <p:grpSpPr>
          <a:xfrm>
            <a:off x="6355079" y="1691639"/>
            <a:ext cx="5166361" cy="1097281"/>
            <a:chOff x="0" y="0"/>
            <a:chExt cx="5166359" cy="1097280"/>
          </a:xfrm>
        </p:grpSpPr>
        <p:sp>
          <p:nvSpPr>
            <p:cNvPr id="281" name="Rounded Rectangle"/>
            <p:cNvSpPr/>
            <p:nvPr/>
          </p:nvSpPr>
          <p:spPr>
            <a:xfrm>
              <a:off x="0" y="0"/>
              <a:ext cx="5166360" cy="1097281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82" name="Honest framing…"/>
            <p:cNvSpPr txBox="1"/>
            <p:nvPr/>
          </p:nvSpPr>
          <p:spPr>
            <a:xfrm>
              <a:off x="104047" y="214937"/>
              <a:ext cx="4958266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Honest framing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We are not claiming the baseline is “bad”; we claim the optimizer can be more compute-aware and stable.</a:t>
              </a:r>
            </a:p>
          </p:txBody>
        </p:sp>
      </p:grpSp>
      <p:grpSp>
        <p:nvGrpSpPr>
          <p:cNvPr id="286" name="Rounded Rectangle 11"/>
          <p:cNvGrpSpPr/>
          <p:nvPr/>
        </p:nvGrpSpPr>
        <p:grpSpPr>
          <a:xfrm>
            <a:off x="6355079" y="3063239"/>
            <a:ext cx="5166361" cy="868681"/>
            <a:chOff x="0" y="0"/>
            <a:chExt cx="5166359" cy="868680"/>
          </a:xfrm>
        </p:grpSpPr>
        <p:sp>
          <p:nvSpPr>
            <p:cNvPr id="284" name="Rounded Rectangle"/>
            <p:cNvSpPr/>
            <p:nvPr/>
          </p:nvSpPr>
          <p:spPr>
            <a:xfrm>
              <a:off x="0" y="0"/>
              <a:ext cx="5166360" cy="86868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285" name="Transition…"/>
            <p:cNvSpPr txBox="1"/>
            <p:nvPr/>
          </p:nvSpPr>
          <p:spPr>
            <a:xfrm>
              <a:off x="92887" y="195887"/>
              <a:ext cx="4980586" cy="4769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Transition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Next: DAPO’s four techniques mapped one-to-one to these failure modes.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1"/>
          <p:cNvSpPr txBox="1"/>
          <p:nvPr/>
        </p:nvSpPr>
        <p:spPr>
          <a:xfrm>
            <a:off x="822960" y="1920239"/>
            <a:ext cx="6111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D68A48"/>
                </a:solidFill>
              </a:defRPr>
            </a:lvl1pPr>
          </a:lstStyle>
          <a:p>
            <a:pPr/>
            <a:r>
              <a:t>PART 2</a:t>
            </a:r>
          </a:p>
        </p:txBody>
      </p:sp>
      <p:sp>
        <p:nvSpPr>
          <p:cNvPr id="289" name="TextBox 2"/>
          <p:cNvSpPr txBox="1"/>
          <p:nvPr/>
        </p:nvSpPr>
        <p:spPr>
          <a:xfrm>
            <a:off x="822960" y="2423160"/>
            <a:ext cx="5302608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DAPO on the same backbone</a:t>
            </a:r>
          </a:p>
        </p:txBody>
      </p:sp>
      <p:sp>
        <p:nvSpPr>
          <p:cNvPr id="290" name="TextBox 3"/>
          <p:cNvSpPr txBox="1"/>
          <p:nvPr/>
        </p:nvSpPr>
        <p:spPr>
          <a:xfrm>
            <a:off x="822959" y="3703320"/>
            <a:ext cx="721812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D2DAE8"/>
                </a:solidFill>
              </a:defRPr>
            </a:lvl1pPr>
          </a:lstStyle>
          <a:p>
            <a:pPr/>
            <a:r>
              <a:t>Clip-Higher, sampling discipline, token-level loss, and shaped rewards—ported to 1.5B.</a:t>
            </a:r>
          </a:p>
        </p:txBody>
      </p:sp>
      <p:sp>
        <p:nvSpPr>
          <p:cNvPr id="291" name="Rectangle 4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5"/>
          <p:cNvSpPr txBox="1"/>
          <p:nvPr/>
        </p:nvSpPr>
        <p:spPr>
          <a:xfrm>
            <a:off x="457200" y="6565392"/>
            <a:ext cx="356500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 · Section</a:t>
            </a:r>
          </a:p>
        </p:txBody>
      </p:sp>
      <p:sp>
        <p:nvSpPr>
          <p:cNvPr id="293" name="TextBox 6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3"/>
          <p:cNvSpPr txBox="1"/>
          <p:nvPr/>
        </p:nvSpPr>
        <p:spPr>
          <a:xfrm>
            <a:off x="548639" y="475487"/>
            <a:ext cx="5845744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DAPO — system and algorithm stack</a:t>
            </a:r>
          </a:p>
        </p:txBody>
      </p:sp>
      <p:sp>
        <p:nvSpPr>
          <p:cNvPr id="298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5"/>
          <p:cNvSpPr txBox="1"/>
          <p:nvPr/>
        </p:nvSpPr>
        <p:spPr>
          <a:xfrm>
            <a:off x="548639" y="1353311"/>
            <a:ext cx="295163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Open-source RL at scale, adapted down</a:t>
            </a:r>
          </a:p>
        </p:txBody>
      </p:sp>
      <p:sp>
        <p:nvSpPr>
          <p:cNvPr id="300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02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03" name="TextBox 9"/>
          <p:cNvSpPr txBox="1"/>
          <p:nvPr/>
        </p:nvSpPr>
        <p:spPr>
          <a:xfrm>
            <a:off x="521208" y="1572767"/>
            <a:ext cx="6446520" cy="21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DAPO (Yu et al., arXiv:2503.14476) packages four coordinated GRPO upgrades for reasoning models.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At large scale it reports strong AIME performance (e.g., ~50 on AIME 2024 with Qwen2.5-32B in the paper narrative).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We do not replicate that scale; we replicate the mechanism bundle on Qwen2.5-Math-1.5B with QLoRA.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Deliverable: a stable Colab training run plus explicit expected bands for evaluation under budget limits.</a:t>
            </a:r>
          </a:p>
        </p:txBody>
      </p:sp>
      <p:grpSp>
        <p:nvGrpSpPr>
          <p:cNvPr id="306" name="Rounded Rectangle 10"/>
          <p:cNvGrpSpPr/>
          <p:nvPr/>
        </p:nvGrpSpPr>
        <p:grpSpPr>
          <a:xfrm>
            <a:off x="7178040" y="1691639"/>
            <a:ext cx="4434841" cy="1051561"/>
            <a:chOff x="0" y="0"/>
            <a:chExt cx="4434840" cy="1051560"/>
          </a:xfrm>
        </p:grpSpPr>
        <p:sp>
          <p:nvSpPr>
            <p:cNvPr id="304" name="Rounded Rectangle"/>
            <p:cNvSpPr/>
            <p:nvPr/>
          </p:nvSpPr>
          <p:spPr>
            <a:xfrm>
              <a:off x="0" y="0"/>
              <a:ext cx="4434841" cy="105156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05" name="Four knobs…"/>
            <p:cNvSpPr txBox="1"/>
            <p:nvPr/>
          </p:nvSpPr>
          <p:spPr>
            <a:xfrm>
              <a:off x="101815" y="192077"/>
              <a:ext cx="4231210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Four knobs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Clip-Higher · Dynamic sampling · Token-level policy gradient · Overlong reward shaping.</a:t>
              </a:r>
            </a:p>
          </p:txBody>
        </p:sp>
      </p:grpSp>
      <p:grpSp>
        <p:nvGrpSpPr>
          <p:cNvPr id="309" name="Rounded Rectangle 11"/>
          <p:cNvGrpSpPr/>
          <p:nvPr/>
        </p:nvGrpSpPr>
        <p:grpSpPr>
          <a:xfrm>
            <a:off x="7178040" y="3017520"/>
            <a:ext cx="4434841" cy="960121"/>
            <a:chOff x="0" y="0"/>
            <a:chExt cx="4434840" cy="960119"/>
          </a:xfrm>
        </p:grpSpPr>
        <p:sp>
          <p:nvSpPr>
            <p:cNvPr id="307" name="Rounded Rectangle"/>
            <p:cNvSpPr/>
            <p:nvPr/>
          </p:nvSpPr>
          <p:spPr>
            <a:xfrm>
              <a:off x="0" y="0"/>
              <a:ext cx="4434841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08" name="Design constraint…"/>
            <p:cNvSpPr txBox="1"/>
            <p:nvPr/>
          </p:nvSpPr>
          <p:spPr>
            <a:xfrm>
              <a:off x="97351" y="146357"/>
              <a:ext cx="4240138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Design constraint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Every choice is justified by T4 VRAM and single-GPU training time—not only by paper-scale defaults.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3"/>
          <p:cNvSpPr txBox="1"/>
          <p:nvPr/>
        </p:nvSpPr>
        <p:spPr>
          <a:xfrm>
            <a:off x="548639" y="475487"/>
            <a:ext cx="355528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Why DAPO after RLVR</a:t>
            </a:r>
          </a:p>
        </p:txBody>
      </p:sp>
      <p:sp>
        <p:nvSpPr>
          <p:cNvPr id="314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5"/>
          <p:cNvSpPr txBox="1"/>
          <p:nvPr/>
        </p:nvSpPr>
        <p:spPr>
          <a:xfrm>
            <a:off x="548639" y="1353311"/>
            <a:ext cx="297932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Same research line, harder optimization</a:t>
            </a:r>
          </a:p>
        </p:txBody>
      </p:sp>
      <p:sp>
        <p:nvSpPr>
          <p:cNvPr id="316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18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19" name="TextBox 9"/>
          <p:cNvSpPr txBox="1"/>
          <p:nvPr/>
        </p:nvSpPr>
        <p:spPr>
          <a:xfrm>
            <a:off x="521208" y="1572767"/>
            <a:ext cx="5806440" cy="1649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RLVR answers: “can verifiable reward work with extreme data efficiency?”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DAPO answers: “given that signal, how should we optimize policy updates for reasoning traces?”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Selecting DAPO is therefore a direct extension—not a topic change.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Our implementation keeps GRPO as the skeleton and swaps in DAPO’s stabilizers.</a:t>
            </a:r>
          </a:p>
        </p:txBody>
      </p:sp>
      <p:grpSp>
        <p:nvGrpSpPr>
          <p:cNvPr id="322" name="Rounded Rectangle 10"/>
          <p:cNvGrpSpPr/>
          <p:nvPr/>
        </p:nvGrpSpPr>
        <p:grpSpPr>
          <a:xfrm>
            <a:off x="6355079" y="1691639"/>
            <a:ext cx="5166361" cy="1097281"/>
            <a:chOff x="0" y="0"/>
            <a:chExt cx="5166359" cy="1097280"/>
          </a:xfrm>
        </p:grpSpPr>
        <p:sp>
          <p:nvSpPr>
            <p:cNvPr id="320" name="Rounded Rectangle"/>
            <p:cNvSpPr/>
            <p:nvPr/>
          </p:nvSpPr>
          <p:spPr>
            <a:xfrm>
              <a:off x="0" y="0"/>
              <a:ext cx="5166360" cy="109728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21" name="One sentence…"/>
            <p:cNvSpPr txBox="1"/>
            <p:nvPr/>
          </p:nvSpPr>
          <p:spPr>
            <a:xfrm>
              <a:off x="104047" y="214937"/>
              <a:ext cx="4958266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One sentence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RLVR supplies the verifier-backed reward; DAPO supplies the optimizer hygiene for that reward.</a:t>
              </a:r>
            </a:p>
          </p:txBody>
        </p:sp>
      </p:grpSp>
      <p:grpSp>
        <p:nvGrpSpPr>
          <p:cNvPr id="325" name="Rounded Rectangle 11"/>
          <p:cNvGrpSpPr/>
          <p:nvPr/>
        </p:nvGrpSpPr>
        <p:grpSpPr>
          <a:xfrm>
            <a:off x="6355079" y="3063239"/>
            <a:ext cx="5166361" cy="914401"/>
            <a:chOff x="0" y="0"/>
            <a:chExt cx="5166359" cy="914400"/>
          </a:xfrm>
        </p:grpSpPr>
        <p:sp>
          <p:nvSpPr>
            <p:cNvPr id="323" name="Rounded Rectangle"/>
            <p:cNvSpPr/>
            <p:nvPr/>
          </p:nvSpPr>
          <p:spPr>
            <a:xfrm>
              <a:off x="0" y="0"/>
              <a:ext cx="5166360" cy="91440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24" name="Pedagogical payoff…"/>
            <p:cNvSpPr txBox="1"/>
            <p:nvPr/>
          </p:nvSpPr>
          <p:spPr>
            <a:xfrm>
              <a:off x="95119" y="123497"/>
              <a:ext cx="4976122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Pedagogical payoff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Listeners see a full stack: problem → baseline → targeted algorithmic patch set.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3"/>
          <p:cNvSpPr txBox="1"/>
          <p:nvPr/>
        </p:nvSpPr>
        <p:spPr>
          <a:xfrm>
            <a:off x="548639" y="475487"/>
            <a:ext cx="5126718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Failure mode → DAPO response</a:t>
            </a:r>
          </a:p>
        </p:txBody>
      </p:sp>
      <p:sp>
        <p:nvSpPr>
          <p:cNvPr id="330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5"/>
          <p:cNvSpPr txBox="1"/>
          <p:nvPr/>
        </p:nvSpPr>
        <p:spPr>
          <a:xfrm>
            <a:off x="548639" y="1353311"/>
            <a:ext cx="326009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A deliberate mapping (innovation narrative)</a:t>
            </a:r>
          </a:p>
        </p:txBody>
      </p:sp>
      <p:sp>
        <p:nvSpPr>
          <p:cNvPr id="332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34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18</a:t>
            </a:r>
          </a:p>
        </p:txBody>
      </p:sp>
      <p:graphicFrame>
        <p:nvGraphicFramePr>
          <p:cNvPr id="335" name="Table 9"/>
          <p:cNvGraphicFramePr/>
          <p:nvPr/>
        </p:nvGraphicFramePr>
        <p:xfrm>
          <a:off x="438912" y="1572767"/>
          <a:ext cx="11201401" cy="44348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33800"/>
                <a:gridCol w="3733800"/>
                <a:gridCol w="3733800"/>
              </a:tblGrid>
              <a:tr h="886967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Failure mode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DAPO lever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88696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Entropy collapse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Narrow reasoning styles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Clip-Higher (ε_high &gt; ε_low)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88696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Wasted steps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All rewards equal in group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Dynamic sampling / skip zero-variance updates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88696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Length bias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Long correct traces penalized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Token-level policy gradient loss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88696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Truncation noise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Hard cut kills near-correct work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Overlong reward shaping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3"/>
          <p:cNvSpPr txBox="1"/>
          <p:nvPr/>
        </p:nvSpPr>
        <p:spPr>
          <a:xfrm>
            <a:off x="548639" y="475487"/>
            <a:ext cx="4266864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Technique 1 — Clip-Higher</a:t>
            </a:r>
          </a:p>
        </p:txBody>
      </p:sp>
      <p:sp>
        <p:nvSpPr>
          <p:cNvPr id="340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TextBox 5"/>
          <p:cNvSpPr txBox="1"/>
          <p:nvPr/>
        </p:nvSpPr>
        <p:spPr>
          <a:xfrm>
            <a:off x="548639" y="1353311"/>
            <a:ext cx="258752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Decoupled clipping for exploration</a:t>
            </a:r>
          </a:p>
        </p:txBody>
      </p:sp>
      <p:sp>
        <p:nvSpPr>
          <p:cNvPr id="342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44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345" name="TextBox 9"/>
          <p:cNvSpPr txBox="1"/>
          <p:nvPr/>
        </p:nvSpPr>
        <p:spPr>
          <a:xfrm>
            <a:off x="521208" y="1572767"/>
            <a:ext cx="5806440" cy="21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Symmetric clipping (e.g., ε=0.2 both sides) can cap useful probability increases as aggressively as decreases.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DAPO raises the upper clip bound so promising token mass shifts are throttled less.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Our GRPO config uses ε=0.28 on the upper side (implementation report alignment).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Intent: preserve diversity in reasoning paths while still bounding destructive updates.</a:t>
            </a:r>
          </a:p>
        </p:txBody>
      </p:sp>
      <p:grpSp>
        <p:nvGrpSpPr>
          <p:cNvPr id="348" name="Rounded Rectangle 10"/>
          <p:cNvGrpSpPr/>
          <p:nvPr/>
        </p:nvGrpSpPr>
        <p:grpSpPr>
          <a:xfrm>
            <a:off x="6355079" y="1691639"/>
            <a:ext cx="5166361" cy="1143001"/>
            <a:chOff x="0" y="0"/>
            <a:chExt cx="5166359" cy="1143000"/>
          </a:xfrm>
        </p:grpSpPr>
        <p:sp>
          <p:nvSpPr>
            <p:cNvPr id="346" name="Rounded Rectangle"/>
            <p:cNvSpPr/>
            <p:nvPr/>
          </p:nvSpPr>
          <p:spPr>
            <a:xfrm>
              <a:off x="0" y="0"/>
              <a:ext cx="5166360" cy="114300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47" name="Say aloud…"/>
            <p:cNvSpPr txBox="1"/>
            <p:nvPr/>
          </p:nvSpPr>
          <p:spPr>
            <a:xfrm>
              <a:off x="106279" y="237797"/>
              <a:ext cx="4953802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Say aloud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RLVR provides the reward; Clip-Higher lets the policy move toward better answers without premature collapse.</a:t>
              </a:r>
            </a:p>
          </p:txBody>
        </p:sp>
      </p:grpSp>
      <p:sp>
        <p:nvSpPr>
          <p:cNvPr id="349" name="TextBox 11"/>
          <p:cNvSpPr txBox="1"/>
          <p:nvPr/>
        </p:nvSpPr>
        <p:spPr>
          <a:xfrm>
            <a:off x="2507684" y="4800599"/>
            <a:ext cx="70547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6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clip(ρ_t, 1 − ε_low , 1 + ε_high)   with   ε_high &gt; ε_low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TextBox 3"/>
          <p:cNvSpPr txBox="1"/>
          <p:nvPr/>
        </p:nvSpPr>
        <p:spPr>
          <a:xfrm>
            <a:off x="548639" y="475487"/>
            <a:ext cx="5399632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Technique 2 — Dynamic sampling</a:t>
            </a:r>
          </a:p>
        </p:txBody>
      </p:sp>
      <p:sp>
        <p:nvSpPr>
          <p:cNvPr id="354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5"/>
          <p:cNvSpPr txBox="1"/>
          <p:nvPr/>
        </p:nvSpPr>
        <p:spPr>
          <a:xfrm>
            <a:off x="548639" y="1353311"/>
            <a:ext cx="298609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Do not train on zero-information groups</a:t>
            </a:r>
          </a:p>
        </p:txBody>
      </p:sp>
      <p:sp>
        <p:nvSpPr>
          <p:cNvPr id="356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58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359" name="TextBox 9"/>
          <p:cNvSpPr txBox="1"/>
          <p:nvPr/>
        </p:nvSpPr>
        <p:spPr>
          <a:xfrm>
            <a:off x="521207" y="1572767"/>
            <a:ext cx="5897882" cy="142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If every completion shares the same reward, normalized advantages are all zero.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Backward passes on such groups burn GPU time without gradient signal.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DAPO filters these cases; in TRL, std(r)→0 yields zero advantage naturally—align training code with that behavior.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On Colab, this is not a minor detail: every minute must buy a policy update.</a:t>
            </a:r>
          </a:p>
        </p:txBody>
      </p:sp>
      <p:grpSp>
        <p:nvGrpSpPr>
          <p:cNvPr id="362" name="Rounded Rectangle 10"/>
          <p:cNvGrpSpPr/>
          <p:nvPr/>
        </p:nvGrpSpPr>
        <p:grpSpPr>
          <a:xfrm>
            <a:off x="6355079" y="1691639"/>
            <a:ext cx="5166361" cy="1097281"/>
            <a:chOff x="0" y="0"/>
            <a:chExt cx="5166359" cy="1097280"/>
          </a:xfrm>
        </p:grpSpPr>
        <p:sp>
          <p:nvSpPr>
            <p:cNvPr id="360" name="Rounded Rectangle"/>
            <p:cNvSpPr/>
            <p:nvPr/>
          </p:nvSpPr>
          <p:spPr>
            <a:xfrm>
              <a:off x="0" y="0"/>
              <a:ext cx="5166360" cy="1097281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61" name="Plain language…"/>
            <p:cNvSpPr txBox="1"/>
            <p:nvPr/>
          </p:nvSpPr>
          <p:spPr>
            <a:xfrm>
              <a:off x="104047" y="214937"/>
              <a:ext cx="4958266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Plain language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Equal rewards mean the model cannot tell which answer was better—teach only when the group disagrees in quality.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3"/>
          <p:cNvSpPr txBox="1"/>
          <p:nvPr/>
        </p:nvSpPr>
        <p:spPr>
          <a:xfrm>
            <a:off x="548639" y="475487"/>
            <a:ext cx="4990727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Technique 3 — Token-level loss</a:t>
            </a:r>
          </a:p>
        </p:txBody>
      </p:sp>
      <p:sp>
        <p:nvSpPr>
          <p:cNvPr id="367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5"/>
          <p:cNvSpPr txBox="1"/>
          <p:nvPr/>
        </p:nvSpPr>
        <p:spPr>
          <a:xfrm>
            <a:off x="548639" y="1353311"/>
            <a:ext cx="289233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Reduce length bias in chain-of-thought</a:t>
            </a:r>
          </a:p>
        </p:txBody>
      </p:sp>
      <p:sp>
        <p:nvSpPr>
          <p:cNvPr id="369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71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372" name="TextBox 9"/>
          <p:cNvSpPr txBox="1"/>
          <p:nvPr/>
        </p:nvSpPr>
        <p:spPr>
          <a:xfrm>
            <a:off x="521207" y="1572767"/>
            <a:ext cx="5897882" cy="210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Sequence-level averaging can treat a 500-token correct solution like a 50-token one.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Token-level aggregation spreads credit across each generated token—better match for long derivations.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Our stack uses TRL GRPOTrainer with token-level training behavior and gradient checkpointing.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Especially important when answers require intermediate lemmas and checks.</a:t>
            </a:r>
          </a:p>
        </p:txBody>
      </p:sp>
      <p:grpSp>
        <p:nvGrpSpPr>
          <p:cNvPr id="375" name="Rounded Rectangle 10"/>
          <p:cNvGrpSpPr/>
          <p:nvPr/>
        </p:nvGrpSpPr>
        <p:grpSpPr>
          <a:xfrm>
            <a:off x="6355079" y="1691639"/>
            <a:ext cx="5166361" cy="1051561"/>
            <a:chOff x="0" y="0"/>
            <a:chExt cx="5166359" cy="1051560"/>
          </a:xfrm>
        </p:grpSpPr>
        <p:sp>
          <p:nvSpPr>
            <p:cNvPr id="373" name="Rounded Rectangle"/>
            <p:cNvSpPr/>
            <p:nvPr/>
          </p:nvSpPr>
          <p:spPr>
            <a:xfrm>
              <a:off x="0" y="0"/>
              <a:ext cx="5166360" cy="105156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74" name="Math-specific…"/>
            <p:cNvSpPr txBox="1"/>
            <p:nvPr/>
          </p:nvSpPr>
          <p:spPr>
            <a:xfrm>
              <a:off x="101815" y="192077"/>
              <a:ext cx="4962730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Math-specific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We want the model to keep structured multi-step work when it is correct—not collapse to shortcuts only.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3"/>
          <p:cNvSpPr txBox="1"/>
          <p:nvPr/>
        </p:nvSpPr>
        <p:spPr>
          <a:xfrm>
            <a:off x="548639" y="475487"/>
            <a:ext cx="6479938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Technique 4 — Overlong reward shaping</a:t>
            </a:r>
          </a:p>
        </p:txBody>
      </p:sp>
      <p:sp>
        <p:nvSpPr>
          <p:cNvPr id="380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TextBox 5"/>
          <p:cNvSpPr txBox="1"/>
          <p:nvPr/>
        </p:nvSpPr>
        <p:spPr>
          <a:xfrm>
            <a:off x="548639" y="1353311"/>
            <a:ext cx="295180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Soft length pressure vs. hard truncation</a:t>
            </a:r>
          </a:p>
        </p:txBody>
      </p:sp>
      <p:sp>
        <p:nvSpPr>
          <p:cNvPr id="382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84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385" name="TextBox 9"/>
          <p:cNvSpPr txBox="1"/>
          <p:nvPr/>
        </p:nvSpPr>
        <p:spPr>
          <a:xfrm>
            <a:off x="521207" y="1572767"/>
            <a:ext cx="5897882" cy="18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Hard truncation can mark almost-correct long answers as fully wrong—noisy reward.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DAPO uses graded penalties past a length threshold instead of brittle zeros.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Our reward subtracts up to −0.3 beyond 400 tokens while preserving correctness signal.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Optional small bonus for well-formed \boxed{} output nudges formatting without replacing correctness.</a:t>
            </a:r>
          </a:p>
        </p:txBody>
      </p:sp>
      <p:grpSp>
        <p:nvGrpSpPr>
          <p:cNvPr id="388" name="Rounded Rectangle 10"/>
          <p:cNvGrpSpPr/>
          <p:nvPr/>
        </p:nvGrpSpPr>
        <p:grpSpPr>
          <a:xfrm>
            <a:off x="6355079" y="1691639"/>
            <a:ext cx="5166361" cy="960121"/>
            <a:chOff x="0" y="0"/>
            <a:chExt cx="5166359" cy="960119"/>
          </a:xfrm>
        </p:grpSpPr>
        <p:sp>
          <p:nvSpPr>
            <p:cNvPr id="386" name="Rounded Rectangle"/>
            <p:cNvSpPr/>
            <p:nvPr/>
          </p:nvSpPr>
          <p:spPr>
            <a:xfrm>
              <a:off x="0" y="0"/>
              <a:ext cx="5166360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387" name="Design…"/>
            <p:cNvSpPr txBox="1"/>
            <p:nvPr/>
          </p:nvSpPr>
          <p:spPr>
            <a:xfrm>
              <a:off x="97351" y="146357"/>
              <a:ext cx="4971658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Design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Reward = correctness + format bonus + overlong penalty (see numeric table next).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TextBox 3"/>
          <p:cNvSpPr txBox="1"/>
          <p:nvPr/>
        </p:nvSpPr>
        <p:spPr>
          <a:xfrm>
            <a:off x="548639" y="475487"/>
            <a:ext cx="4627586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Reward design — qualitative</a:t>
            </a:r>
          </a:p>
        </p:txBody>
      </p:sp>
      <p:sp>
        <p:nvSpPr>
          <p:cNvPr id="393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5"/>
          <p:cNvSpPr txBox="1"/>
          <p:nvPr/>
        </p:nvSpPr>
        <p:spPr>
          <a:xfrm>
            <a:off x="548639" y="1353311"/>
            <a:ext cx="13789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Three-term signal</a:t>
            </a:r>
          </a:p>
        </p:txBody>
      </p:sp>
      <p:sp>
        <p:nvSpPr>
          <p:cNvPr id="395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397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398" name="TextBox 9"/>
          <p:cNvSpPr txBox="1"/>
          <p:nvPr/>
        </p:nvSpPr>
        <p:spPr>
          <a:xfrm>
            <a:off x="521207" y="1572767"/>
            <a:ext cx="5715002" cy="1344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Primary term: match extracted \boxed{} answer to normalized ground truth.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Secondary: small negative signal if no parseable answer is found.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Tertiary: soft length shaping so verbosity is discouraged without destroying credit assignment.</a:t>
            </a:r>
          </a:p>
        </p:txBody>
      </p:sp>
      <p:grpSp>
        <p:nvGrpSpPr>
          <p:cNvPr id="401" name="Rounded Rectangle 10"/>
          <p:cNvGrpSpPr/>
          <p:nvPr/>
        </p:nvGrpSpPr>
        <p:grpSpPr>
          <a:xfrm>
            <a:off x="6263640" y="1691639"/>
            <a:ext cx="5257801" cy="1005841"/>
            <a:chOff x="0" y="0"/>
            <a:chExt cx="5257800" cy="1005839"/>
          </a:xfrm>
        </p:grpSpPr>
        <p:sp>
          <p:nvSpPr>
            <p:cNvPr id="399" name="Rounded Rectangle"/>
            <p:cNvSpPr/>
            <p:nvPr/>
          </p:nvSpPr>
          <p:spPr>
            <a:xfrm>
              <a:off x="0" y="0"/>
              <a:ext cx="5257800" cy="100584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400" name="Principle…"/>
            <p:cNvSpPr txBox="1"/>
            <p:nvPr/>
          </p:nvSpPr>
          <p:spPr>
            <a:xfrm>
              <a:off x="99583" y="169217"/>
              <a:ext cx="5058634" cy="667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Principle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Rewards should be cheap to compute, hard to game, and aligned with exam-style correctness.</a:t>
              </a:r>
            </a:p>
          </p:txBody>
        </p:sp>
      </p:grpSp>
      <p:grpSp>
        <p:nvGrpSpPr>
          <p:cNvPr id="404" name="Rounded Rectangle 11"/>
          <p:cNvGrpSpPr/>
          <p:nvPr/>
        </p:nvGrpSpPr>
        <p:grpSpPr>
          <a:xfrm>
            <a:off x="6263640" y="2971800"/>
            <a:ext cx="5257801" cy="960120"/>
            <a:chOff x="0" y="0"/>
            <a:chExt cx="5257800" cy="960119"/>
          </a:xfrm>
        </p:grpSpPr>
        <p:sp>
          <p:nvSpPr>
            <p:cNvPr id="402" name="Rounded Rectangle"/>
            <p:cNvSpPr/>
            <p:nvPr/>
          </p:nvSpPr>
          <p:spPr>
            <a:xfrm>
              <a:off x="0" y="0"/>
              <a:ext cx="5257800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403" name="RL perspective…"/>
            <p:cNvSpPr txBox="1"/>
            <p:nvPr/>
          </p:nvSpPr>
          <p:spPr>
            <a:xfrm>
              <a:off x="97351" y="146357"/>
              <a:ext cx="5063098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RL perspective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Shaping interacts with clipping and token loss—this is a system, not isolated hacks.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TextBox 3"/>
          <p:cNvSpPr txBox="1"/>
          <p:nvPr/>
        </p:nvSpPr>
        <p:spPr>
          <a:xfrm>
            <a:off x="548639" y="475487"/>
            <a:ext cx="5127835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Reward design — numeric table</a:t>
            </a:r>
          </a:p>
        </p:txBody>
      </p:sp>
      <p:sp>
        <p:nvSpPr>
          <p:cNvPr id="409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TextBox 5"/>
          <p:cNvSpPr txBox="1"/>
          <p:nvPr/>
        </p:nvSpPr>
        <p:spPr>
          <a:xfrm>
            <a:off x="548639" y="1353311"/>
            <a:ext cx="298436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Exact shaping constants from the report</a:t>
            </a:r>
          </a:p>
        </p:txBody>
      </p:sp>
      <p:sp>
        <p:nvSpPr>
          <p:cNvPr id="411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413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24</a:t>
            </a:r>
          </a:p>
        </p:txBody>
      </p:sp>
      <p:graphicFrame>
        <p:nvGraphicFramePr>
          <p:cNvPr id="414" name="Table 9"/>
          <p:cNvGraphicFramePr/>
          <p:nvPr/>
        </p:nvGraphicFramePr>
        <p:xfrm>
          <a:off x="438912" y="1572767"/>
          <a:ext cx="11201401" cy="397764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33800"/>
                <a:gridCol w="3733800"/>
                <a:gridCol w="3733800"/>
              </a:tblGrid>
              <a:tr h="662939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Correct answer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+1.0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\boxed{} matches normalized truth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Wrong / missing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0.0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No credit for incorrect final answer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No extracted answer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−0.1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Penalize unparseable outputs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Format bonus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+0.05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Proper \boxed{} usage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Overlong penalty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up to −0.3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Graduated beyond 400 tokens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Box 1"/>
          <p:cNvSpPr txBox="1"/>
          <p:nvPr/>
        </p:nvSpPr>
        <p:spPr>
          <a:xfrm>
            <a:off x="822960" y="1920239"/>
            <a:ext cx="6111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D68A48"/>
                </a:solidFill>
              </a:defRPr>
            </a:lvl1pPr>
          </a:lstStyle>
          <a:p>
            <a:pPr/>
            <a:r>
              <a:t>PART 3</a:t>
            </a:r>
          </a:p>
        </p:txBody>
      </p:sp>
      <p:sp>
        <p:nvSpPr>
          <p:cNvPr id="417" name="TextBox 2"/>
          <p:cNvSpPr txBox="1"/>
          <p:nvPr/>
        </p:nvSpPr>
        <p:spPr>
          <a:xfrm>
            <a:off x="822960" y="2423160"/>
            <a:ext cx="4739876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Engineering the Colab run</a:t>
            </a:r>
          </a:p>
        </p:txBody>
      </p:sp>
      <p:sp>
        <p:nvSpPr>
          <p:cNvPr id="418" name="TextBox 3"/>
          <p:cNvSpPr txBox="1"/>
          <p:nvPr/>
        </p:nvSpPr>
        <p:spPr>
          <a:xfrm>
            <a:off x="822959" y="3703320"/>
            <a:ext cx="477545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D2DAE8"/>
                </a:solidFill>
              </a:defRPr>
            </a:lvl1pPr>
          </a:lstStyle>
          <a:p>
            <a:pPr/>
            <a:r>
              <a:t>QLoRA, memory budget, hyperparameters, and artifacts.</a:t>
            </a:r>
          </a:p>
        </p:txBody>
      </p:sp>
      <p:sp>
        <p:nvSpPr>
          <p:cNvPr id="419" name="Rectangle 4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TextBox 5"/>
          <p:cNvSpPr txBox="1"/>
          <p:nvPr/>
        </p:nvSpPr>
        <p:spPr>
          <a:xfrm>
            <a:off x="457200" y="6565392"/>
            <a:ext cx="356500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 · Section</a:t>
            </a:r>
          </a:p>
        </p:txBody>
      </p:sp>
      <p:sp>
        <p:nvSpPr>
          <p:cNvPr id="421" name="TextBox 6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TextBox 3"/>
          <p:cNvSpPr txBox="1"/>
          <p:nvPr/>
        </p:nvSpPr>
        <p:spPr>
          <a:xfrm>
            <a:off x="548639" y="475487"/>
            <a:ext cx="6892378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DAPO implementation — hyperparameters</a:t>
            </a:r>
          </a:p>
        </p:txBody>
      </p:sp>
      <p:sp>
        <p:nvSpPr>
          <p:cNvPr id="426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TextBox 5"/>
          <p:cNvSpPr txBox="1"/>
          <p:nvPr/>
        </p:nvSpPr>
        <p:spPr>
          <a:xfrm>
            <a:off x="548639" y="1353311"/>
            <a:ext cx="155076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DeePO_DAPO.ipynb</a:t>
            </a:r>
          </a:p>
        </p:txBody>
      </p:sp>
      <p:sp>
        <p:nvSpPr>
          <p:cNvPr id="428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430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26</a:t>
            </a:r>
          </a:p>
        </p:txBody>
      </p:sp>
      <p:graphicFrame>
        <p:nvGraphicFramePr>
          <p:cNvPr id="431" name="Table 9"/>
          <p:cNvGraphicFramePr/>
          <p:nvPr/>
        </p:nvGraphicFramePr>
        <p:xfrm>
          <a:off x="420624" y="1643538"/>
          <a:ext cx="5989321" cy="452628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994660"/>
                <a:gridCol w="2994660"/>
              </a:tblGrid>
              <a:tr h="348175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Base model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Qwen2.5-Math-1.5B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Platform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Google Colab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GPU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Tesla T4 (15.6 GB VRAM)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Fine-tuning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QLoRA, 4-bit NF4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LoRA rank / alpha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16 / 32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Group size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Train size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500 examples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Steps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200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Learning rate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5e-6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Clip epsilon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0.28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KL beta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0.04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348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Max completion length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C2026"/>
                          </a:solidFill>
                        </a:rPr>
                        <a:t>512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2" name="TextBox 10"/>
          <p:cNvSpPr txBox="1"/>
          <p:nvPr/>
        </p:nvSpPr>
        <p:spPr>
          <a:xfrm>
            <a:off x="6629400" y="1627632"/>
            <a:ext cx="4983481" cy="1909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1C2026"/>
                </a:solidFill>
              </a:defRPr>
            </a:pPr>
            <a:r>
              <a:t>Training mix: 500-example subset from GSM8K + competition MATH train splits.</a:t>
            </a:r>
          </a:p>
          <a:p>
            <a:pPr>
              <a:spcBef>
                <a:spcPts val="600"/>
              </a:spcBef>
              <a:defRPr sz="1300">
                <a:solidFill>
                  <a:srgbClr val="1C2026"/>
                </a:solidFill>
              </a:defRPr>
            </a:pPr>
            <a:r>
              <a:t>TRL GRPOTrainer drives rollouts, advantage computation, and PEFT-compatible updates.</a:t>
            </a:r>
          </a:p>
          <a:p>
            <a:pPr>
              <a:spcBef>
                <a:spcPts val="600"/>
              </a:spcBef>
              <a:defRPr sz="1300">
                <a:solidFill>
                  <a:srgbClr val="1C2026"/>
                </a:solidFill>
              </a:defRPr>
            </a:pPr>
            <a:r>
              <a:t>Adapters saved separately; merged weights produced for evaluation-style inference.</a:t>
            </a:r>
          </a:p>
          <a:p>
            <a:pPr>
              <a:spcBef>
                <a:spcPts val="600"/>
              </a:spcBef>
              <a:defRPr sz="1300">
                <a:solidFill>
                  <a:srgbClr val="1C2026"/>
                </a:solidFill>
              </a:defRPr>
            </a:pPr>
            <a:r>
              <a:t>Gradient accumulation (e.g., 8) raises effective batch without exceeding VRAM.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TextBox 3"/>
          <p:cNvSpPr txBox="1"/>
          <p:nvPr/>
        </p:nvSpPr>
        <p:spPr>
          <a:xfrm>
            <a:off x="548639" y="475487"/>
            <a:ext cx="3263948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T4 memory strategy</a:t>
            </a:r>
          </a:p>
        </p:txBody>
      </p:sp>
      <p:sp>
        <p:nvSpPr>
          <p:cNvPr id="437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TextBox 5"/>
          <p:cNvSpPr txBox="1"/>
          <p:nvPr/>
        </p:nvSpPr>
        <p:spPr>
          <a:xfrm>
            <a:off x="548639" y="1353311"/>
            <a:ext cx="225319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Fitting reasoning RL in ~15 GB</a:t>
            </a:r>
          </a:p>
        </p:txBody>
      </p:sp>
      <p:sp>
        <p:nvSpPr>
          <p:cNvPr id="439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441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442" name="TextBox 9"/>
          <p:cNvSpPr txBox="1"/>
          <p:nvPr/>
        </p:nvSpPr>
        <p:spPr>
          <a:xfrm>
            <a:off x="521207" y="1572767"/>
            <a:ext cx="10972802" cy="15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4-bit NF4 quantization shrinks the frozen backbone footprint while keeping training workable.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LoRA trains a small adapter (~tens of millions of parameters) instead of full weights.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No separate reference model copy: PEFT uses frozen base weights as the reference anchor.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Gradient checkpointing trades extra compute for activations memory.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Group size G=4 caps concurrent completions to respect KV-cache pressure.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TextBox 3"/>
          <p:cNvSpPr txBox="1"/>
          <p:nvPr/>
        </p:nvSpPr>
        <p:spPr>
          <a:xfrm>
            <a:off x="548639" y="475487"/>
            <a:ext cx="4695489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Efficiency and reproducibility</a:t>
            </a:r>
          </a:p>
        </p:txBody>
      </p:sp>
      <p:sp>
        <p:nvSpPr>
          <p:cNvPr id="447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TextBox 5"/>
          <p:cNvSpPr txBox="1"/>
          <p:nvPr/>
        </p:nvSpPr>
        <p:spPr>
          <a:xfrm>
            <a:off x="548639" y="1353311"/>
            <a:ext cx="20938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Why this project is portable</a:t>
            </a:r>
          </a:p>
        </p:txBody>
      </p:sp>
      <p:sp>
        <p:nvSpPr>
          <p:cNvPr id="449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451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452" name="TextBox 9"/>
          <p:cNvSpPr txBox="1"/>
          <p:nvPr/>
        </p:nvSpPr>
        <p:spPr>
          <a:xfrm>
            <a:off x="521208" y="1572767"/>
            <a:ext cx="5806440" cy="187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Student-grade GPUs can still run meaningful RL if quantization + adapters + small groups are composed deliberately.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The notebooks isolate data prep, training, merge, and (intended) evaluation for clarity.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Documenting Colab limits turns a “failed eval” into a reproducible systems anecdote.</a:t>
            </a:r>
          </a:p>
          <a:p>
            <a:pPr>
              <a:spcBef>
                <a:spcPts val="600"/>
              </a:spcBef>
              <a:defRPr sz="1500">
                <a:solidFill>
                  <a:srgbClr val="1C2026"/>
                </a:solidFill>
              </a:defRPr>
            </a:pPr>
            <a:r>
              <a:t>Future work: Colab Pro, Kaggle, L4/A100 to close the measurement gap.</a:t>
            </a:r>
          </a:p>
        </p:txBody>
      </p:sp>
      <p:grpSp>
        <p:nvGrpSpPr>
          <p:cNvPr id="455" name="Rounded Rectangle 10"/>
          <p:cNvGrpSpPr/>
          <p:nvPr/>
        </p:nvGrpSpPr>
        <p:grpSpPr>
          <a:xfrm>
            <a:off x="6355079" y="1691639"/>
            <a:ext cx="5166361" cy="1051561"/>
            <a:chOff x="0" y="0"/>
            <a:chExt cx="5166359" cy="1051560"/>
          </a:xfrm>
        </p:grpSpPr>
        <p:sp>
          <p:nvSpPr>
            <p:cNvPr id="453" name="Rounded Rectangle"/>
            <p:cNvSpPr/>
            <p:nvPr/>
          </p:nvSpPr>
          <p:spPr>
            <a:xfrm>
              <a:off x="0" y="0"/>
              <a:ext cx="5166360" cy="105156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454" name="Outcome…"/>
            <p:cNvSpPr txBox="1"/>
            <p:nvPr/>
          </p:nvSpPr>
          <p:spPr>
            <a:xfrm>
              <a:off x="101815" y="192077"/>
              <a:ext cx="4962730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Outcome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A modular recipe others can re-run: same code path, bigger budget → full benchmark tables.</a:t>
              </a:r>
            </a:p>
          </p:txBody>
        </p:sp>
      </p:grpSp>
      <p:grpSp>
        <p:nvGrpSpPr>
          <p:cNvPr id="458" name="Rounded Rectangle 11"/>
          <p:cNvGrpSpPr/>
          <p:nvPr/>
        </p:nvGrpSpPr>
        <p:grpSpPr>
          <a:xfrm>
            <a:off x="6355079" y="3063239"/>
            <a:ext cx="5166361" cy="960121"/>
            <a:chOff x="0" y="0"/>
            <a:chExt cx="5166359" cy="960119"/>
          </a:xfrm>
        </p:grpSpPr>
        <p:sp>
          <p:nvSpPr>
            <p:cNvPr id="456" name="Rounded Rectangle"/>
            <p:cNvSpPr/>
            <p:nvPr/>
          </p:nvSpPr>
          <p:spPr>
            <a:xfrm>
              <a:off x="0" y="0"/>
              <a:ext cx="5166360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457" name="Integrity…"/>
            <p:cNvSpPr txBox="1"/>
            <p:nvPr/>
          </p:nvSpPr>
          <p:spPr>
            <a:xfrm>
              <a:off x="97351" y="146357"/>
              <a:ext cx="4971658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Integrity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Engineering success is the trained merged artifact; scientific completion is the pending full eval.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Box 1"/>
          <p:cNvSpPr txBox="1"/>
          <p:nvPr/>
        </p:nvSpPr>
        <p:spPr>
          <a:xfrm>
            <a:off x="822960" y="1920239"/>
            <a:ext cx="6111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D68A48"/>
                </a:solidFill>
              </a:defRPr>
            </a:lvl1pPr>
          </a:lstStyle>
          <a:p>
            <a:pPr/>
            <a:r>
              <a:t>PART 4</a:t>
            </a:r>
          </a:p>
        </p:txBody>
      </p:sp>
      <p:sp>
        <p:nvSpPr>
          <p:cNvPr id="461" name="TextBox 2"/>
          <p:cNvSpPr txBox="1"/>
          <p:nvPr/>
        </p:nvSpPr>
        <p:spPr>
          <a:xfrm>
            <a:off x="822960" y="2423160"/>
            <a:ext cx="5640162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Results and evaluation framing</a:t>
            </a:r>
          </a:p>
        </p:txBody>
      </p:sp>
      <p:sp>
        <p:nvSpPr>
          <p:cNvPr id="462" name="TextBox 3"/>
          <p:cNvSpPr txBox="1"/>
          <p:nvPr/>
        </p:nvSpPr>
        <p:spPr>
          <a:xfrm>
            <a:off x="822959" y="3703320"/>
            <a:ext cx="429236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D2DAE8"/>
                </a:solidFill>
              </a:defRPr>
            </a:lvl1pPr>
          </a:lstStyle>
          <a:p>
            <a:pPr/>
            <a:r>
              <a:t>Training dynamics, comparisons, and honest limits.</a:t>
            </a:r>
          </a:p>
        </p:txBody>
      </p:sp>
      <p:sp>
        <p:nvSpPr>
          <p:cNvPr id="463" name="Rectangle 4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5"/>
          <p:cNvSpPr txBox="1"/>
          <p:nvPr/>
        </p:nvSpPr>
        <p:spPr>
          <a:xfrm>
            <a:off x="457200" y="6565392"/>
            <a:ext cx="356500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 · Section</a:t>
            </a:r>
          </a:p>
        </p:txBody>
      </p:sp>
      <p:sp>
        <p:nvSpPr>
          <p:cNvPr id="465" name="TextBox 6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29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3"/>
          <p:cNvSpPr txBox="1"/>
          <p:nvPr/>
        </p:nvSpPr>
        <p:spPr>
          <a:xfrm>
            <a:off x="548639" y="475487"/>
            <a:ext cx="2943596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Training dynamics</a:t>
            </a:r>
          </a:p>
        </p:txBody>
      </p:sp>
      <p:sp>
        <p:nvSpPr>
          <p:cNvPr id="470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5"/>
          <p:cNvSpPr txBox="1"/>
          <p:nvPr/>
        </p:nvSpPr>
        <p:spPr>
          <a:xfrm>
            <a:off x="548639" y="1353311"/>
            <a:ext cx="165173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DAPO run on Tesla T4</a:t>
            </a:r>
          </a:p>
        </p:txBody>
      </p:sp>
      <p:sp>
        <p:nvSpPr>
          <p:cNvPr id="472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474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30</a:t>
            </a:r>
          </a:p>
        </p:txBody>
      </p:sp>
      <p:pic>
        <p:nvPicPr>
          <p:cNvPr id="475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0623" y="1898238"/>
            <a:ext cx="6720841" cy="43434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8" name="Rounded Rectangle 10"/>
          <p:cNvGrpSpPr/>
          <p:nvPr/>
        </p:nvGrpSpPr>
        <p:grpSpPr>
          <a:xfrm>
            <a:off x="7360919" y="1600200"/>
            <a:ext cx="4251961" cy="960120"/>
            <a:chOff x="0" y="0"/>
            <a:chExt cx="4251959" cy="960119"/>
          </a:xfrm>
        </p:grpSpPr>
        <p:sp>
          <p:nvSpPr>
            <p:cNvPr id="476" name="Rounded Rectangle"/>
            <p:cNvSpPr/>
            <p:nvPr/>
          </p:nvSpPr>
          <p:spPr>
            <a:xfrm>
              <a:off x="0" y="0"/>
              <a:ext cx="4251960" cy="960120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477" name="Runtime…"/>
            <p:cNvSpPr txBox="1"/>
            <p:nvPr/>
          </p:nvSpPr>
          <p:spPr>
            <a:xfrm>
              <a:off x="97351" y="146357"/>
              <a:ext cx="4057258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Runtime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Training completed 200 steps in roughly 4h 5m on a Tesla T4 in Colab.</a:t>
              </a:r>
            </a:p>
          </p:txBody>
        </p:sp>
      </p:grpSp>
      <p:grpSp>
        <p:nvGrpSpPr>
          <p:cNvPr id="481" name="Rounded Rectangle 11"/>
          <p:cNvGrpSpPr/>
          <p:nvPr/>
        </p:nvGrpSpPr>
        <p:grpSpPr>
          <a:xfrm>
            <a:off x="7360919" y="2788920"/>
            <a:ext cx="4251961" cy="868681"/>
            <a:chOff x="0" y="0"/>
            <a:chExt cx="4251959" cy="868680"/>
          </a:xfrm>
        </p:grpSpPr>
        <p:sp>
          <p:nvSpPr>
            <p:cNvPr id="479" name="Rounded Rectangle"/>
            <p:cNvSpPr/>
            <p:nvPr/>
          </p:nvSpPr>
          <p:spPr>
            <a:xfrm>
              <a:off x="0" y="0"/>
              <a:ext cx="4251960" cy="86868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480" name="Final loss…"/>
            <p:cNvSpPr txBox="1"/>
            <p:nvPr/>
          </p:nvSpPr>
          <p:spPr>
            <a:xfrm>
              <a:off x="92887" y="195887"/>
              <a:ext cx="4066186" cy="4769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Final loss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Reported loss at step 200: 0.0314.</a:t>
              </a:r>
            </a:p>
          </p:txBody>
        </p:sp>
      </p:grpSp>
      <p:grpSp>
        <p:nvGrpSpPr>
          <p:cNvPr id="484" name="Rounded Rectangle 12"/>
          <p:cNvGrpSpPr/>
          <p:nvPr/>
        </p:nvGrpSpPr>
        <p:grpSpPr>
          <a:xfrm>
            <a:off x="7360919" y="3886200"/>
            <a:ext cx="4251961" cy="1097281"/>
            <a:chOff x="0" y="0"/>
            <a:chExt cx="4251959" cy="1097280"/>
          </a:xfrm>
        </p:grpSpPr>
        <p:sp>
          <p:nvSpPr>
            <p:cNvPr id="482" name="Rounded Rectangle"/>
            <p:cNvSpPr/>
            <p:nvPr/>
          </p:nvSpPr>
          <p:spPr>
            <a:xfrm>
              <a:off x="0" y="0"/>
              <a:ext cx="4251960" cy="109728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483" name="Reading the curve…"/>
            <p:cNvSpPr txBox="1"/>
            <p:nvPr/>
          </p:nvSpPr>
          <p:spPr>
            <a:xfrm>
              <a:off x="104047" y="214937"/>
              <a:ext cx="4043866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Reading the curve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RL losses are noisy; the run stayed stable without collapse—consistent with practical GRPO-style training.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3"/>
          <p:cNvSpPr txBox="1"/>
          <p:nvPr/>
        </p:nvSpPr>
        <p:spPr>
          <a:xfrm>
            <a:off x="548639" y="475487"/>
            <a:ext cx="5678313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RLVR vs. our DAPO implementation</a:t>
            </a:r>
          </a:p>
        </p:txBody>
      </p:sp>
      <p:sp>
        <p:nvSpPr>
          <p:cNvPr id="489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TextBox 5"/>
          <p:cNvSpPr txBox="1"/>
          <p:nvPr/>
        </p:nvSpPr>
        <p:spPr>
          <a:xfrm>
            <a:off x="548639" y="1353311"/>
            <a:ext cx="24764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Side-by-side method comparison</a:t>
            </a:r>
          </a:p>
        </p:txBody>
      </p:sp>
      <p:sp>
        <p:nvSpPr>
          <p:cNvPr id="491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493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31</a:t>
            </a:r>
          </a:p>
        </p:txBody>
      </p:sp>
      <p:graphicFrame>
        <p:nvGraphicFramePr>
          <p:cNvPr id="494" name="Table 9"/>
          <p:cNvGraphicFramePr/>
          <p:nvPr/>
        </p:nvGraphicFramePr>
        <p:xfrm>
          <a:off x="488949" y="1679830"/>
          <a:ext cx="11201401" cy="452628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33800"/>
                <a:gridCol w="3733800"/>
                <a:gridCol w="3733800"/>
              </a:tblGrid>
              <a:tr h="565785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RLVR baseline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DAPO (ours)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Core idea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One-shot verifiable RL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GRPO + DAPO stabilizers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Policy update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Standard GRPO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GRPO + Clip-Higher + token-level loss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Clipping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Symmetric ~0.2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Asymmetric upper ε=0.28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Reward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Correctness-centric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Correctness + format + overlong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Training data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One example (paper)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500-example GSM8K+MATH mix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PEFT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Paper-dependent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QLoRA 4-bit NF4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Goal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Reproduce paper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Improve optimization path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TextBox 3"/>
          <p:cNvSpPr txBox="1"/>
          <p:nvPr/>
        </p:nvSpPr>
        <p:spPr>
          <a:xfrm>
            <a:off x="548639" y="475487"/>
            <a:ext cx="5720543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Expected improvements (report §7)</a:t>
            </a:r>
          </a:p>
        </p:txBody>
      </p:sp>
      <p:sp>
        <p:nvSpPr>
          <p:cNvPr id="499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TextBox 5"/>
          <p:cNvSpPr txBox="1"/>
          <p:nvPr/>
        </p:nvSpPr>
        <p:spPr>
          <a:xfrm>
            <a:off x="548639" y="1353311"/>
            <a:ext cx="316216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Scaled-down targets—not measured finals</a:t>
            </a:r>
          </a:p>
        </p:txBody>
      </p:sp>
      <p:sp>
        <p:nvSpPr>
          <p:cNvPr id="501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503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32</a:t>
            </a:r>
          </a:p>
        </p:txBody>
      </p:sp>
      <p:graphicFrame>
        <p:nvGraphicFramePr>
          <p:cNvPr id="504" name="Table 9"/>
          <p:cNvGraphicFramePr/>
          <p:nvPr/>
        </p:nvGraphicFramePr>
        <p:xfrm>
          <a:off x="324867" y="1629822"/>
          <a:ext cx="11292841" cy="455371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82140"/>
                <a:gridCol w="1882140"/>
                <a:gridCol w="1882140"/>
                <a:gridCol w="1882140"/>
                <a:gridCol w="1882140"/>
                <a:gridCol w="1882140"/>
              </a:tblGrid>
              <a:tr h="65053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RLVR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DAPO low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DAPO high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Δ (low)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Δ (high)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2203A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MATH500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73.0%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75.0%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78.0%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+2.0%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+5.0%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AMC23×8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50.9%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53.0%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58.0%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+2.1%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+7.1%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OlympiadBench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33.8%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35.0%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40.0%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+1.2%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+6.2%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Minerva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27.9%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29.0%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33.0%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+1.1%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+5.1%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65053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AIME24×8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12.5%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14.0%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18.0%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+1.5%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+5.5%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1F5F9"/>
                    </a:solidFill>
                  </a:tcPr>
                </a:tc>
              </a:tr>
              <a:tr h="650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AIME25×8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5.0%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6.0%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10.0%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+1.0%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C2026"/>
                          </a:solidFill>
                        </a:rPr>
                        <a:t>+5.0%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TextBox 3"/>
          <p:cNvSpPr txBox="1"/>
          <p:nvPr/>
        </p:nvSpPr>
        <p:spPr>
          <a:xfrm>
            <a:off x="548639" y="475487"/>
            <a:ext cx="2768723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Evaluation figure</a:t>
            </a:r>
          </a:p>
        </p:txBody>
      </p:sp>
      <p:sp>
        <p:nvSpPr>
          <p:cNvPr id="509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TextBox 5"/>
          <p:cNvSpPr txBox="1"/>
          <p:nvPr/>
        </p:nvSpPr>
        <p:spPr>
          <a:xfrm>
            <a:off x="548639" y="1353311"/>
            <a:ext cx="275603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Actual RLVR vs. expected DAPO band</a:t>
            </a:r>
          </a:p>
        </p:txBody>
      </p:sp>
      <p:sp>
        <p:nvSpPr>
          <p:cNvPr id="511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513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33</a:t>
            </a:r>
          </a:p>
        </p:txBody>
      </p:sp>
      <p:pic>
        <p:nvPicPr>
          <p:cNvPr id="514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904" y="1689258"/>
            <a:ext cx="6720841" cy="443484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7" name="Rounded Rectangle 10"/>
          <p:cNvGrpSpPr/>
          <p:nvPr/>
        </p:nvGrpSpPr>
        <p:grpSpPr>
          <a:xfrm>
            <a:off x="7269480" y="1572767"/>
            <a:ext cx="4434841" cy="1325881"/>
            <a:chOff x="0" y="0"/>
            <a:chExt cx="4434840" cy="1325880"/>
          </a:xfrm>
        </p:grpSpPr>
        <p:sp>
          <p:nvSpPr>
            <p:cNvPr id="515" name="Rounded Rectangle"/>
            <p:cNvSpPr/>
            <p:nvPr/>
          </p:nvSpPr>
          <p:spPr>
            <a:xfrm>
              <a:off x="0" y="0"/>
              <a:ext cx="4434841" cy="1325881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516" name="Integrity…"/>
            <p:cNvSpPr txBox="1"/>
            <p:nvPr/>
          </p:nvSpPr>
          <p:spPr>
            <a:xfrm>
              <a:off x="115206" y="233987"/>
              <a:ext cx="4204428" cy="8579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Integrity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Colab quota interrupted full post-training evaluation; orange bands reflect scaled expected ranges from the DAPO paper and our setup—not final measured DAPO scores.</a:t>
              </a:r>
            </a:p>
          </p:txBody>
        </p:sp>
      </p:grpSp>
      <p:grpSp>
        <p:nvGrpSpPr>
          <p:cNvPr id="520" name="Rounded Rectangle 11"/>
          <p:cNvGrpSpPr/>
          <p:nvPr/>
        </p:nvGrpSpPr>
        <p:grpSpPr>
          <a:xfrm>
            <a:off x="7269480" y="3154679"/>
            <a:ext cx="4434841" cy="1143001"/>
            <a:chOff x="0" y="0"/>
            <a:chExt cx="4434840" cy="1143000"/>
          </a:xfrm>
        </p:grpSpPr>
        <p:sp>
          <p:nvSpPr>
            <p:cNvPr id="518" name="Rounded Rectangle"/>
            <p:cNvSpPr/>
            <p:nvPr/>
          </p:nvSpPr>
          <p:spPr>
            <a:xfrm>
              <a:off x="0" y="0"/>
              <a:ext cx="4434841" cy="114300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519" name="Message…"/>
            <p:cNvSpPr txBox="1"/>
            <p:nvPr/>
          </p:nvSpPr>
          <p:spPr>
            <a:xfrm>
              <a:off x="106279" y="237797"/>
              <a:ext cx="4222282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Message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Implementation and training completed successfully; the open item is exhaustive benchmarking on higher budgets.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3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TextBox 3"/>
          <p:cNvSpPr txBox="1"/>
          <p:nvPr/>
        </p:nvSpPr>
        <p:spPr>
          <a:xfrm>
            <a:off x="548639" y="475487"/>
            <a:ext cx="1862174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525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6" name="TextBox 5"/>
          <p:cNvSpPr txBox="1"/>
          <p:nvPr/>
        </p:nvSpPr>
        <p:spPr>
          <a:xfrm>
            <a:off x="548639" y="1353311"/>
            <a:ext cx="284259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Quota, partial benchmarks, and scope</a:t>
            </a:r>
          </a:p>
        </p:txBody>
      </p:sp>
      <p:sp>
        <p:nvSpPr>
          <p:cNvPr id="527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529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530" name="TextBox 9"/>
          <p:cNvSpPr txBox="1"/>
          <p:nvPr/>
        </p:nvSpPr>
        <p:spPr>
          <a:xfrm>
            <a:off x="521207" y="1572767"/>
            <a:ext cx="5897882" cy="21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Colab daily limits interrupted exhaustive post-training evaluation; MATH500 eval was started but not finished under quota.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T4 VRAM caps group size, context, and how aggressively we can mirror paper-scale runs.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Orange “DAPO” bars in the summary chart are expected intervals from scaled assumptions—not claimed empirical wins yet.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Despite that, training completed and merged artifacts exist—ready for a higher-budget eval sprint.</a:t>
            </a:r>
          </a:p>
        </p:txBody>
      </p:sp>
      <p:grpSp>
        <p:nvGrpSpPr>
          <p:cNvPr id="533" name="Rounded Rectangle 10"/>
          <p:cNvGrpSpPr/>
          <p:nvPr/>
        </p:nvGrpSpPr>
        <p:grpSpPr>
          <a:xfrm>
            <a:off x="6355079" y="1691639"/>
            <a:ext cx="5166361" cy="1097281"/>
            <a:chOff x="0" y="0"/>
            <a:chExt cx="5166359" cy="1097280"/>
          </a:xfrm>
        </p:grpSpPr>
        <p:sp>
          <p:nvSpPr>
            <p:cNvPr id="531" name="Rounded Rectangle"/>
            <p:cNvSpPr/>
            <p:nvPr/>
          </p:nvSpPr>
          <p:spPr>
            <a:xfrm>
              <a:off x="0" y="0"/>
              <a:ext cx="5166360" cy="1097281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532" name="Strength…"/>
            <p:cNvSpPr txBox="1"/>
            <p:nvPr/>
          </p:nvSpPr>
          <p:spPr>
            <a:xfrm>
              <a:off x="104047" y="214937"/>
              <a:ext cx="4958266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Strength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End-to-end pipeline validation on constrained hardware is itself a contribution for coursework replication.</a:t>
              </a:r>
            </a:p>
          </p:txBody>
        </p:sp>
      </p:grpSp>
      <p:grpSp>
        <p:nvGrpSpPr>
          <p:cNvPr id="536" name="Rounded Rectangle 11"/>
          <p:cNvGrpSpPr/>
          <p:nvPr/>
        </p:nvGrpSpPr>
        <p:grpSpPr>
          <a:xfrm>
            <a:off x="6355079" y="3063239"/>
            <a:ext cx="5166361" cy="1051561"/>
            <a:chOff x="0" y="0"/>
            <a:chExt cx="5166359" cy="1051560"/>
          </a:xfrm>
        </p:grpSpPr>
        <p:sp>
          <p:nvSpPr>
            <p:cNvPr id="534" name="Rounded Rectangle"/>
            <p:cNvSpPr/>
            <p:nvPr/>
          </p:nvSpPr>
          <p:spPr>
            <a:xfrm>
              <a:off x="0" y="0"/>
              <a:ext cx="5166360" cy="1051561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535" name="Next step…"/>
            <p:cNvSpPr txBox="1"/>
            <p:nvPr/>
          </p:nvSpPr>
          <p:spPr>
            <a:xfrm>
              <a:off x="101815" y="192077"/>
              <a:ext cx="4962730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Next step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Re-run the six benchmarks on Colab Pro, Kaggle, or A100; optionally extend steps (500–1000) and data &gt;500.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Box 1"/>
          <p:cNvSpPr txBox="1"/>
          <p:nvPr/>
        </p:nvSpPr>
        <p:spPr>
          <a:xfrm>
            <a:off x="822960" y="1920239"/>
            <a:ext cx="6111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D68A48"/>
                </a:solidFill>
              </a:defRPr>
            </a:lvl1pPr>
          </a:lstStyle>
          <a:p>
            <a:pPr/>
            <a:r>
              <a:t>PART 5</a:t>
            </a:r>
          </a:p>
        </p:txBody>
      </p:sp>
      <p:sp>
        <p:nvSpPr>
          <p:cNvPr id="539" name="TextBox 2"/>
          <p:cNvSpPr txBox="1"/>
          <p:nvPr/>
        </p:nvSpPr>
        <p:spPr>
          <a:xfrm>
            <a:off x="822960" y="2423160"/>
            <a:ext cx="2057150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540" name="TextBox 3"/>
          <p:cNvSpPr txBox="1"/>
          <p:nvPr/>
        </p:nvSpPr>
        <p:spPr>
          <a:xfrm>
            <a:off x="822959" y="3703320"/>
            <a:ext cx="51029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D2DAE8"/>
                </a:solidFill>
              </a:defRPr>
            </a:lvl1pPr>
          </a:lstStyle>
          <a:p>
            <a:pPr/>
            <a:r>
              <a:t>What we proved, what remains measured, where to go next.</a:t>
            </a:r>
          </a:p>
        </p:txBody>
      </p:sp>
      <p:sp>
        <p:nvSpPr>
          <p:cNvPr id="541" name="Rectangle 4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5"/>
          <p:cNvSpPr txBox="1"/>
          <p:nvPr/>
        </p:nvSpPr>
        <p:spPr>
          <a:xfrm>
            <a:off x="457200" y="6565392"/>
            <a:ext cx="356500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 · Section</a:t>
            </a:r>
          </a:p>
        </p:txBody>
      </p:sp>
      <p:sp>
        <p:nvSpPr>
          <p:cNvPr id="543" name="TextBox 6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Rectangle 1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22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Rectangle 2"/>
          <p:cNvSpPr/>
          <p:nvPr/>
        </p:nvSpPr>
        <p:spPr>
          <a:xfrm>
            <a:off x="201167" y="0"/>
            <a:ext cx="11990529" cy="54864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TextBox 3"/>
          <p:cNvSpPr txBox="1"/>
          <p:nvPr/>
        </p:nvSpPr>
        <p:spPr>
          <a:xfrm>
            <a:off x="548639" y="475487"/>
            <a:ext cx="447113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12203A"/>
                </a:solidFill>
              </a:defRPr>
            </a:lvl1pPr>
          </a:lstStyle>
          <a:p>
            <a:pPr/>
            <a:r>
              <a:t>Conclusion and future work</a:t>
            </a:r>
          </a:p>
        </p:txBody>
      </p:sp>
      <p:sp>
        <p:nvSpPr>
          <p:cNvPr id="548" name="Rectangle 4"/>
          <p:cNvSpPr/>
          <p:nvPr/>
        </p:nvSpPr>
        <p:spPr>
          <a:xfrm>
            <a:off x="502920" y="1261872"/>
            <a:ext cx="1691640" cy="45721"/>
          </a:xfrm>
          <a:prstGeom prst="rect">
            <a:avLst/>
          </a:prstGeom>
          <a:solidFill>
            <a:srgbClr val="D68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TextBox 5"/>
          <p:cNvSpPr txBox="1"/>
          <p:nvPr/>
        </p:nvSpPr>
        <p:spPr>
          <a:xfrm>
            <a:off x="548639" y="1353311"/>
            <a:ext cx="113508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64748B"/>
                </a:solidFill>
              </a:defRPr>
            </a:lvl1pPr>
          </a:lstStyle>
          <a:p>
            <a:pPr/>
            <a:r>
              <a:t>Close the loop</a:t>
            </a:r>
          </a:p>
        </p:txBody>
      </p:sp>
      <p:sp>
        <p:nvSpPr>
          <p:cNvPr id="550" name="Rectangle 6"/>
          <p:cNvSpPr/>
          <p:nvPr/>
        </p:nvSpPr>
        <p:spPr>
          <a:xfrm>
            <a:off x="-1" y="6510528"/>
            <a:ext cx="12191697" cy="347473"/>
          </a:xfrm>
          <a:prstGeom prst="rect">
            <a:avLst/>
          </a:prstGeom>
          <a:solidFill>
            <a:srgbClr val="E8ECF2"/>
          </a:solidFill>
          <a:ln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1" name="TextBox 7"/>
          <p:cNvSpPr txBox="1"/>
          <p:nvPr/>
        </p:nvSpPr>
        <p:spPr>
          <a:xfrm>
            <a:off x="457200" y="6565392"/>
            <a:ext cx="314190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RLVR → DAPO — Reinforcement Learning with Verifiable Rewards</a:t>
            </a:r>
          </a:p>
        </p:txBody>
      </p:sp>
      <p:sp>
        <p:nvSpPr>
          <p:cNvPr id="552" name="TextBox 8"/>
          <p:cNvSpPr txBox="1"/>
          <p:nvPr/>
        </p:nvSpPr>
        <p:spPr>
          <a:xfrm>
            <a:off x="11732890" y="6565392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100">
                <a:solidFill>
                  <a:srgbClr val="12203A"/>
                </a:solidFill>
              </a:defRPr>
            </a:lvl1pPr>
          </a:lstStyle>
          <a:p>
            <a:pPr/>
            <a:r>
              <a:t>36</a:t>
            </a:r>
          </a:p>
        </p:txBody>
      </p:sp>
      <p:sp>
        <p:nvSpPr>
          <p:cNvPr id="553" name="TextBox 9"/>
          <p:cNvSpPr txBox="1"/>
          <p:nvPr/>
        </p:nvSpPr>
        <p:spPr>
          <a:xfrm>
            <a:off x="521208" y="1572767"/>
            <a:ext cx="5806440" cy="21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Reproduced RLVR-class baseline metrics that anchor all later claims.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Implemented a DAPO-informed GRPO trainer with shaped rewards and asymmetric clipping on the same backbone.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Demonstrated a reproducible Colab path from adapters to merged model weights.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Remaining scientific debt: full benchmark table under sufficient GPU hours.</a:t>
            </a:r>
          </a:p>
          <a:p>
            <a:pPr>
              <a:spcBef>
                <a:spcPts val="600"/>
              </a:spcBef>
              <a:defRPr sz="1400">
                <a:solidFill>
                  <a:srgbClr val="1C2026"/>
                </a:solidFill>
              </a:defRPr>
            </a:pPr>
            <a:r>
              <a:t>Extensions: longer training, larger groups where VRAM allows, richer reward tests (sympy normalization), and ablations per DAPO component.</a:t>
            </a:r>
          </a:p>
        </p:txBody>
      </p:sp>
      <p:grpSp>
        <p:nvGrpSpPr>
          <p:cNvPr id="556" name="Rounded Rectangle 10"/>
          <p:cNvGrpSpPr/>
          <p:nvPr/>
        </p:nvGrpSpPr>
        <p:grpSpPr>
          <a:xfrm>
            <a:off x="502919" y="5440679"/>
            <a:ext cx="6720842" cy="777241"/>
            <a:chOff x="0" y="0"/>
            <a:chExt cx="6720840" cy="777240"/>
          </a:xfrm>
        </p:grpSpPr>
        <p:sp>
          <p:nvSpPr>
            <p:cNvPr id="554" name="Rounded Rectangle"/>
            <p:cNvSpPr/>
            <p:nvPr/>
          </p:nvSpPr>
          <p:spPr>
            <a:xfrm>
              <a:off x="0" y="0"/>
              <a:ext cx="6720841" cy="777241"/>
            </a:xfrm>
            <a:prstGeom prst="roundRect">
              <a:avLst>
                <a:gd name="adj" fmla="val 16667"/>
              </a:avLst>
            </a:prstGeom>
            <a:solidFill>
              <a:srgbClr val="FDF6EE"/>
            </a:solidFill>
            <a:ln w="9525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1C2026"/>
                  </a:solidFill>
                </a:defRPr>
              </a:pPr>
            </a:p>
          </p:txBody>
        </p:sp>
        <p:sp>
          <p:nvSpPr>
            <p:cNvPr id="555" name="One-line takeaway…"/>
            <p:cNvSpPr txBox="1"/>
            <p:nvPr/>
          </p:nvSpPr>
          <p:spPr>
            <a:xfrm>
              <a:off x="88424" y="54917"/>
              <a:ext cx="6543992" cy="667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12203A"/>
                  </a:solidFill>
                </a:defRPr>
              </a:pPr>
              <a:r>
                <a:t>One-line takeaway</a:t>
              </a:r>
            </a:p>
            <a:p>
              <a:pPr>
                <a:defRPr sz="1200">
                  <a:solidFill>
                    <a:srgbClr val="1C2026"/>
                  </a:solidFill>
                </a:defRPr>
              </a:pPr>
              <a:r>
                <a:t>RLVR proves verifier-backed RL can start from tiny data; DAPO-style optimization is how we stress-test that idea on real trainers.</a:t>
              </a:r>
            </a:p>
          </p:txBody>
        </p:sp>
      </p:grpSp>
      <p:sp>
        <p:nvSpPr>
          <p:cNvPr id="557" name="TextBox 11"/>
          <p:cNvSpPr txBox="1"/>
          <p:nvPr/>
        </p:nvSpPr>
        <p:spPr>
          <a:xfrm>
            <a:off x="6583679" y="1572767"/>
            <a:ext cx="4894472" cy="1569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000">
                <a:solidFill>
                  <a:srgbClr val="12203A"/>
                </a:solidFill>
              </a:defRPr>
            </a:pPr>
            <a:r>
              <a:t>References</a:t>
            </a:r>
          </a:p>
          <a:p>
            <a:pPr>
              <a:spcBef>
                <a:spcPts val="500"/>
              </a:spcBef>
              <a:defRPr sz="1200"/>
            </a:pPr>
            <a:r>
              <a:t>Wang et al., RL for Reasoning in LLMs with One Training Example, 2025.</a:t>
            </a:r>
          </a:p>
          <a:p>
            <a:pPr>
              <a:spcBef>
                <a:spcPts val="500"/>
              </a:spcBef>
              <a:defRPr sz="1200"/>
            </a:pPr>
            <a:r>
              <a:t>Yu et al., DAPO: Open-Source LLM RL at Scale, arXiv:2503.14476.</a:t>
            </a:r>
          </a:p>
          <a:p>
            <a:pPr>
              <a:spcBef>
                <a:spcPts val="500"/>
              </a:spcBef>
              <a:defRPr sz="1200"/>
            </a:pPr>
            <a:r>
              <a:t>Shao et al., DeepSeekMath, 2024.</a:t>
            </a:r>
          </a:p>
          <a:p>
            <a:pPr>
              <a:spcBef>
                <a:spcPts val="500"/>
              </a:spcBef>
              <a:defRPr sz="1200"/>
            </a:pPr>
            <a:r>
              <a:t>Hu et al., LoRA, 2021.</a:t>
            </a:r>
          </a:p>
          <a:p>
            <a:pPr>
              <a:spcBef>
                <a:spcPts val="500"/>
              </a:spcBef>
              <a:defRPr sz="1200"/>
            </a:pPr>
            <a:r>
              <a:t>Project: RLVR.ipynb, DeePO_DAPO.ipynb, DAPO_Implementation_Report.md.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